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6" r:id="rId11"/>
  </p:sldIdLst>
  <p:sldSz cx="14630400" cy="8229600"/>
  <p:notesSz cx="8229600" cy="14630400"/>
  <p:embeddedFontLst>
    <p:embeddedFont>
      <p:font typeface="Lato" panose="020F0502020204030203" pitchFamily="34" charset="0"/>
      <p:regular r:id="rId13"/>
      <p:bold r:id="rId14"/>
    </p:embeddedFont>
    <p:embeddedFont>
      <p:font typeface="Lato Bold" panose="020F0502020204030203" pitchFamily="34" charset="0"/>
      <p:bold r:id="rId15"/>
    </p:embeddedFont>
    <p:embeddedFont>
      <p:font typeface="Lato Light" panose="020F0502020204030203" pitchFamily="34" charset="0"/>
      <p:regular r:id="rId16"/>
      <p:italic r:id="rId17"/>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2" d="100"/>
          <a:sy n="62" d="100"/>
        </p:scale>
        <p:origin x="332" y="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11/11/2025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2EEEB-F9B1-5B9B-1EFF-F251B432C2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4966785-4BDF-139E-DDFF-4A7AAEEB8E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583186-3DCB-E255-9F1E-6C5DF09EEEC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D780AB-B70C-4B92-5681-AD9DEB83A0BE}"/>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2844679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txBody>
          <a:bodyPr/>
          <a:lstStyle/>
          <a:p>
            <a:endParaRPr lang="en-US"/>
          </a:p>
        </p:txBody>
      </p:sp>
      <p:sp>
        <p:nvSpPr>
          <p:cNvPr id="3" name="Shape 1"/>
          <p:cNvSpPr/>
          <p:nvPr/>
        </p:nvSpPr>
        <p:spPr>
          <a:xfrm>
            <a:off x="0" y="0"/>
            <a:ext cx="14630400" cy="8229600"/>
          </a:xfrm>
          <a:prstGeom prst="rect">
            <a:avLst/>
          </a:prstGeom>
          <a:solidFill>
            <a:srgbClr val="EFECE6"/>
          </a:solidFill>
        </p:spPr>
        <p:txBody>
          <a:bodyPr/>
          <a:lstStyle/>
          <a:p>
            <a:endParaRPr lang="en-US"/>
          </a:p>
        </p:txBody>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sp>
      <p:sp>
        <p:nvSpPr>
          <p:cNvPr id="3" name="Shape 1"/>
          <p:cNvSpPr/>
          <p:nvPr/>
        </p:nvSpPr>
        <p:spPr>
          <a:xfrm>
            <a:off x="0" y="0"/>
            <a:ext cx="14630400" cy="8229600"/>
          </a:xfrm>
          <a:prstGeom prst="rect">
            <a:avLst/>
          </a:prstGeom>
          <a:solidFill>
            <a:srgbClr val="EFECE6"/>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sp>
      <p:sp>
        <p:nvSpPr>
          <p:cNvPr id="3" name="Shape 1"/>
          <p:cNvSpPr/>
          <p:nvPr/>
        </p:nvSpPr>
        <p:spPr>
          <a:xfrm>
            <a:off x="0" y="0"/>
            <a:ext cx="14630400" cy="8229600"/>
          </a:xfrm>
          <a:prstGeom prst="rect">
            <a:avLst/>
          </a:prstGeom>
          <a:solidFill>
            <a:srgbClr val="EFECE6"/>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sp>
      <p:sp>
        <p:nvSpPr>
          <p:cNvPr id="3" name="Shape 1"/>
          <p:cNvSpPr/>
          <p:nvPr/>
        </p:nvSpPr>
        <p:spPr>
          <a:xfrm>
            <a:off x="0" y="0"/>
            <a:ext cx="14630400" cy="8229600"/>
          </a:xfrm>
          <a:prstGeom prst="rect">
            <a:avLst/>
          </a:prstGeom>
          <a:solidFill>
            <a:srgbClr val="EFECE6"/>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sp>
      <p:sp>
        <p:nvSpPr>
          <p:cNvPr id="3" name="Shape 1"/>
          <p:cNvSpPr/>
          <p:nvPr/>
        </p:nvSpPr>
        <p:spPr>
          <a:xfrm>
            <a:off x="0" y="0"/>
            <a:ext cx="14630400" cy="8229600"/>
          </a:xfrm>
          <a:prstGeom prst="rect">
            <a:avLst/>
          </a:prstGeom>
          <a:solidFill>
            <a:srgbClr val="EFECE6"/>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sp>
      <p:sp>
        <p:nvSpPr>
          <p:cNvPr id="3" name="Shape 1"/>
          <p:cNvSpPr/>
          <p:nvPr/>
        </p:nvSpPr>
        <p:spPr>
          <a:xfrm>
            <a:off x="0" y="0"/>
            <a:ext cx="14630400" cy="8229600"/>
          </a:xfrm>
          <a:prstGeom prst="rect">
            <a:avLst/>
          </a:prstGeom>
          <a:solidFill>
            <a:srgbClr val="EFECE6"/>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sp>
      <p:sp>
        <p:nvSpPr>
          <p:cNvPr id="3" name="Shape 1"/>
          <p:cNvSpPr/>
          <p:nvPr/>
        </p:nvSpPr>
        <p:spPr>
          <a:xfrm>
            <a:off x="0" y="0"/>
            <a:ext cx="14630400" cy="8229600"/>
          </a:xfrm>
          <a:prstGeom prst="rect">
            <a:avLst/>
          </a:prstGeom>
          <a:solidFill>
            <a:srgbClr val="EFECE6"/>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sp>
      <p:sp>
        <p:nvSpPr>
          <p:cNvPr id="3" name="Shape 1"/>
          <p:cNvSpPr/>
          <p:nvPr/>
        </p:nvSpPr>
        <p:spPr>
          <a:xfrm>
            <a:off x="0" y="0"/>
            <a:ext cx="14630400" cy="8229600"/>
          </a:xfrm>
          <a:prstGeom prst="rect">
            <a:avLst/>
          </a:prstGeom>
          <a:solidFill>
            <a:srgbClr val="EFECE6"/>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sp>
      <p:sp>
        <p:nvSpPr>
          <p:cNvPr id="3" name="Shape 1"/>
          <p:cNvSpPr/>
          <p:nvPr/>
        </p:nvSpPr>
        <p:spPr>
          <a:xfrm>
            <a:off x="0" y="0"/>
            <a:ext cx="14630400" cy="8229600"/>
          </a:xfrm>
          <a:prstGeom prst="rect">
            <a:avLst/>
          </a:prstGeom>
          <a:solidFill>
            <a:srgbClr val="EFECE6"/>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DD6CC"/>
          </a:solidFill>
        </p:spPr>
      </p:sp>
      <p:sp>
        <p:nvSpPr>
          <p:cNvPr id="3" name="Shape 1"/>
          <p:cNvSpPr/>
          <p:nvPr/>
        </p:nvSpPr>
        <p:spPr>
          <a:xfrm>
            <a:off x="0" y="0"/>
            <a:ext cx="14630400" cy="8229600"/>
          </a:xfrm>
          <a:prstGeom prst="rect">
            <a:avLst/>
          </a:prstGeom>
          <a:solidFill>
            <a:srgbClr val="EFECE6"/>
          </a:solidFill>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tags" Target="../tags/tag18.xml"/><Relationship Id="rId3" Type="http://schemas.openxmlformats.org/officeDocument/2006/relationships/tags" Target="../tags/tag3.xml"/><Relationship Id="rId21" Type="http://schemas.openxmlformats.org/officeDocument/2006/relationships/slideLayout" Target="../slideLayouts/slideLayout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tags" Target="../tags/tag17.xml"/><Relationship Id="rId2" Type="http://schemas.openxmlformats.org/officeDocument/2006/relationships/tags" Target="../tags/tag2.xml"/><Relationship Id="rId16" Type="http://schemas.openxmlformats.org/officeDocument/2006/relationships/tags" Target="../tags/tag16.xml"/><Relationship Id="rId20" Type="http://schemas.openxmlformats.org/officeDocument/2006/relationships/tags" Target="../tags/tag20.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23" Type="http://schemas.openxmlformats.org/officeDocument/2006/relationships/image" Target="../media/image3.png"/><Relationship Id="rId10" Type="http://schemas.openxmlformats.org/officeDocument/2006/relationships/tags" Target="../tags/tag10.xml"/><Relationship Id="rId19" Type="http://schemas.openxmlformats.org/officeDocument/2006/relationships/tags" Target="../tags/tag19.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 Id="rId2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pn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93790" y="1008817"/>
            <a:ext cx="7556421" cy="4961573"/>
          </a:xfrm>
          <a:prstGeom prst="rect">
            <a:avLst/>
          </a:prstGeom>
          <a:noFill/>
        </p:spPr>
        <p:txBody>
          <a:bodyPr wrap="square" lIns="0" tIns="0" rIns="0" bIns="0" rtlCol="0" anchor="t"/>
          <a:lstStyle/>
          <a:p>
            <a:pPr marL="0" indent="0" algn="l">
              <a:lnSpc>
                <a:spcPts val="9750"/>
              </a:lnSpc>
              <a:buNone/>
            </a:pPr>
            <a:r>
              <a:rPr lang="en-US" sz="7200" b="1" dirty="0">
                <a:solidFill>
                  <a:srgbClr val="282824"/>
                </a:solidFill>
                <a:latin typeface="Lato Bold" pitchFamily="34" charset="0"/>
                <a:ea typeface="Lato Bold" pitchFamily="34" charset="-122"/>
                <a:cs typeface="Lato Bold" pitchFamily="34" charset="-120"/>
              </a:rPr>
              <a:t>Analisis Kelulusan dan Predikat Wisuda Mahasiswa</a:t>
            </a:r>
            <a:endParaRPr lang="en-US" sz="7200" dirty="0"/>
          </a:p>
        </p:txBody>
      </p:sp>
      <p:sp>
        <p:nvSpPr>
          <p:cNvPr id="4" name="Text 1"/>
          <p:cNvSpPr/>
          <p:nvPr/>
        </p:nvSpPr>
        <p:spPr>
          <a:xfrm>
            <a:off x="793790" y="6268045"/>
            <a:ext cx="7556421" cy="952619"/>
          </a:xfrm>
          <a:prstGeom prst="rect">
            <a:avLst/>
          </a:prstGeom>
          <a:noFill/>
        </p:spPr>
        <p:txBody>
          <a:bodyPr wrap="square" lIns="0" tIns="0" rIns="0" bIns="0" rtlCol="0" anchor="t"/>
          <a:lstStyle/>
          <a:p>
            <a:pPr marL="0" indent="0" algn="l">
              <a:lnSpc>
                <a:spcPts val="2500"/>
              </a:lnSpc>
              <a:buNone/>
            </a:pP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3"/>
          <a:stretch>
            <a:fillRect/>
          </a:stretch>
        </p:blipFill>
        <p:spPr>
          <a:xfrm>
            <a:off x="9144000" y="0"/>
            <a:ext cx="5486400" cy="8243649"/>
          </a:xfrm>
          <a:prstGeom prst="rect">
            <a:avLst/>
          </a:prstGeom>
        </p:spPr>
      </p:pic>
      <p:sp>
        <p:nvSpPr>
          <p:cNvPr id="3" name="Text 0"/>
          <p:cNvSpPr/>
          <p:nvPr/>
        </p:nvSpPr>
        <p:spPr>
          <a:xfrm>
            <a:off x="664845" y="1156335"/>
            <a:ext cx="7814310" cy="699135"/>
          </a:xfrm>
          <a:prstGeom prst="rect">
            <a:avLst/>
          </a:prstGeom>
          <a:noFill/>
        </p:spPr>
        <p:txBody>
          <a:bodyPr wrap="none" lIns="0" tIns="0" rIns="0" bIns="0" rtlCol="0" anchor="t"/>
          <a:lstStyle/>
          <a:p>
            <a:pPr marL="0" indent="0" algn="l">
              <a:lnSpc>
                <a:spcPts val="4050"/>
              </a:lnSpc>
              <a:buNone/>
            </a:pPr>
            <a:r>
              <a:rPr lang="en-US" sz="4800" b="1" dirty="0">
                <a:solidFill>
                  <a:srgbClr val="282824"/>
                </a:solidFill>
                <a:latin typeface="Lato Bold" pitchFamily="34" charset="0"/>
                <a:ea typeface="Lato Bold" pitchFamily="34" charset="-122"/>
                <a:cs typeface="Lato Bold" pitchFamily="34" charset="-120"/>
              </a:rPr>
              <a:t>Struktur Tim dan Peran</a:t>
            </a:r>
          </a:p>
        </p:txBody>
      </p:sp>
      <p:sp>
        <p:nvSpPr>
          <p:cNvPr id="4" name="Text 1"/>
          <p:cNvSpPr/>
          <p:nvPr/>
        </p:nvSpPr>
        <p:spPr>
          <a:xfrm>
            <a:off x="664845" y="692150"/>
            <a:ext cx="7814310" cy="1162685"/>
          </a:xfrm>
          <a:prstGeom prst="rect">
            <a:avLst/>
          </a:prstGeom>
          <a:noFill/>
        </p:spPr>
        <p:txBody>
          <a:bodyPr wrap="square" lIns="0" tIns="0" rIns="0" bIns="0" rtlCol="0" anchor="t"/>
          <a:lstStyle/>
          <a:p>
            <a:pPr marL="0" indent="0" algn="l">
              <a:lnSpc>
                <a:spcPts val="2050"/>
              </a:lnSpc>
              <a:buNone/>
            </a:pPr>
            <a:endParaRPr lang="en-US" sz="1300" dirty="0"/>
          </a:p>
        </p:txBody>
      </p:sp>
      <p:sp>
        <p:nvSpPr>
          <p:cNvPr id="5" name="Shape 2"/>
          <p:cNvSpPr/>
          <p:nvPr>
            <p:custDataLst>
              <p:tags r:id="rId1"/>
            </p:custDataLst>
          </p:nvPr>
        </p:nvSpPr>
        <p:spPr>
          <a:xfrm>
            <a:off x="664964" y="2210514"/>
            <a:ext cx="7814072" cy="1269325"/>
          </a:xfrm>
          <a:prstGeom prst="roundRect">
            <a:avLst>
              <a:gd name="adj" fmla="val 1965"/>
            </a:avLst>
          </a:prstGeom>
          <a:solidFill>
            <a:srgbClr val="EFECE6"/>
          </a:solidFill>
          <a:ln w="22860">
            <a:solidFill>
              <a:srgbClr val="CBC5B8"/>
            </a:solidFill>
            <a:prstDash val="solid"/>
          </a:ln>
        </p:spPr>
        <p:txBody>
          <a:bodyPr/>
          <a:lstStyle/>
          <a:p>
            <a:endParaRPr lang="en-US"/>
          </a:p>
        </p:txBody>
      </p:sp>
      <p:sp>
        <p:nvSpPr>
          <p:cNvPr id="6" name="Shape 3"/>
          <p:cNvSpPr/>
          <p:nvPr>
            <p:custDataLst>
              <p:tags r:id="rId2"/>
            </p:custDataLst>
          </p:nvPr>
        </p:nvSpPr>
        <p:spPr>
          <a:xfrm>
            <a:off x="687824" y="2233374"/>
            <a:ext cx="664964" cy="1223605"/>
          </a:xfrm>
          <a:prstGeom prst="rect">
            <a:avLst/>
          </a:prstGeom>
          <a:solidFill>
            <a:srgbClr val="E5DFD2"/>
          </a:solidFill>
        </p:spPr>
        <p:txBody>
          <a:bodyPr/>
          <a:lstStyle/>
          <a:p>
            <a:endParaRPr lang="en-US"/>
          </a:p>
        </p:txBody>
      </p:sp>
      <p:sp>
        <p:nvSpPr>
          <p:cNvPr id="7" name="Text 4"/>
          <p:cNvSpPr/>
          <p:nvPr>
            <p:custDataLst>
              <p:tags r:id="rId3"/>
            </p:custDataLst>
          </p:nvPr>
        </p:nvSpPr>
        <p:spPr>
          <a:xfrm>
            <a:off x="895588" y="2689265"/>
            <a:ext cx="249317" cy="311706"/>
          </a:xfrm>
          <a:prstGeom prst="rect">
            <a:avLst/>
          </a:prstGeom>
          <a:noFill/>
        </p:spPr>
        <p:txBody>
          <a:bodyPr wrap="none" lIns="0" tIns="0" rIns="0" bIns="0" rtlCol="0" anchor="t"/>
          <a:lstStyle/>
          <a:p>
            <a:pPr marL="0" indent="0" algn="l">
              <a:lnSpc>
                <a:spcPts val="1950"/>
              </a:lnSpc>
              <a:buNone/>
            </a:pPr>
            <a:r>
              <a:rPr lang="en-US" sz="1950" b="1" dirty="0">
                <a:solidFill>
                  <a:srgbClr val="4A4A45"/>
                </a:solidFill>
                <a:latin typeface="Lato Bold" pitchFamily="34" charset="0"/>
                <a:ea typeface="Lato Bold" pitchFamily="34" charset="-122"/>
                <a:cs typeface="Lato Bold" pitchFamily="34" charset="-120"/>
              </a:rPr>
              <a:t>1</a:t>
            </a:r>
            <a:endParaRPr lang="en-US" sz="1950" dirty="0"/>
          </a:p>
        </p:txBody>
      </p:sp>
      <p:sp>
        <p:nvSpPr>
          <p:cNvPr id="8" name="Text 5"/>
          <p:cNvSpPr/>
          <p:nvPr>
            <p:custDataLst>
              <p:tags r:id="rId4"/>
            </p:custDataLst>
          </p:nvPr>
        </p:nvSpPr>
        <p:spPr>
          <a:xfrm>
            <a:off x="1518999" y="2399586"/>
            <a:ext cx="2078236" cy="259794"/>
          </a:xfrm>
          <a:prstGeom prst="rect">
            <a:avLst/>
          </a:prstGeom>
          <a:noFill/>
        </p:spPr>
        <p:txBody>
          <a:bodyPr wrap="none" lIns="0" tIns="0" rIns="0" bIns="0" rtlCol="0" anchor="t"/>
          <a:lstStyle/>
          <a:p>
            <a:pPr marL="0" indent="0" algn="l">
              <a:lnSpc>
                <a:spcPts val="2000"/>
              </a:lnSpc>
              <a:buNone/>
            </a:pPr>
            <a:r>
              <a:rPr lang="en-US" sz="1600" b="1" dirty="0">
                <a:solidFill>
                  <a:srgbClr val="4A4A45"/>
                </a:solidFill>
                <a:latin typeface="Lato Bold" pitchFamily="34" charset="0"/>
                <a:ea typeface="Lato Bold" pitchFamily="34" charset="-122"/>
                <a:cs typeface="Lato Bold" pitchFamily="34" charset="-120"/>
              </a:rPr>
              <a:t>Data Engineer</a:t>
            </a:r>
            <a:endParaRPr lang="en-US" sz="1600" dirty="0"/>
          </a:p>
        </p:txBody>
      </p:sp>
      <p:sp>
        <p:nvSpPr>
          <p:cNvPr id="9" name="Text 6"/>
          <p:cNvSpPr/>
          <p:nvPr>
            <p:custDataLst>
              <p:tags r:id="rId5"/>
            </p:custDataLst>
          </p:nvPr>
        </p:nvSpPr>
        <p:spPr>
          <a:xfrm>
            <a:off x="1518999" y="2759035"/>
            <a:ext cx="6770965" cy="531733"/>
          </a:xfrm>
          <a:prstGeom prst="rect">
            <a:avLst/>
          </a:prstGeom>
          <a:noFill/>
        </p:spPr>
        <p:txBody>
          <a:bodyPr wrap="square" lIns="0" tIns="0" rIns="0" bIns="0" rtlCol="0" anchor="t"/>
          <a:lstStyle/>
          <a:p>
            <a:pPr marL="0" indent="0" algn="l">
              <a:lnSpc>
                <a:spcPts val="2050"/>
              </a:lnSpc>
              <a:buNone/>
            </a:pPr>
            <a:r>
              <a:rPr lang="en-US" sz="1300" dirty="0">
                <a:solidFill>
                  <a:srgbClr val="4A4A45"/>
                </a:solidFill>
                <a:latin typeface="Lato" panose="020F0802020204030203" pitchFamily="34" charset="0"/>
                <a:ea typeface="Lato" panose="020F0802020204030203" pitchFamily="34" charset="-122"/>
                <a:cs typeface="Lato" panose="020F0802020204030203" pitchFamily="34" charset="-120"/>
              </a:rPr>
              <a:t>Nabil Kundi: Menyiapkan file Excel, memastikan format kolom sesuai, mengecek duplikasi dan data kosong.</a:t>
            </a:r>
            <a:endParaRPr lang="en-US" sz="1300" dirty="0"/>
          </a:p>
        </p:txBody>
      </p:sp>
      <p:sp>
        <p:nvSpPr>
          <p:cNvPr id="10" name="Shape 7"/>
          <p:cNvSpPr/>
          <p:nvPr>
            <p:custDataLst>
              <p:tags r:id="rId6"/>
            </p:custDataLst>
          </p:nvPr>
        </p:nvSpPr>
        <p:spPr>
          <a:xfrm>
            <a:off x="664964" y="3646051"/>
            <a:ext cx="7814072" cy="1269325"/>
          </a:xfrm>
          <a:prstGeom prst="roundRect">
            <a:avLst>
              <a:gd name="adj" fmla="val 1965"/>
            </a:avLst>
          </a:prstGeom>
          <a:solidFill>
            <a:srgbClr val="EFECE6"/>
          </a:solidFill>
          <a:ln w="22860">
            <a:solidFill>
              <a:srgbClr val="CBC5B8"/>
            </a:solidFill>
            <a:prstDash val="solid"/>
          </a:ln>
        </p:spPr>
        <p:txBody>
          <a:bodyPr/>
          <a:lstStyle/>
          <a:p>
            <a:endParaRPr lang="en-US"/>
          </a:p>
        </p:txBody>
      </p:sp>
      <p:sp>
        <p:nvSpPr>
          <p:cNvPr id="11" name="Shape 8"/>
          <p:cNvSpPr/>
          <p:nvPr>
            <p:custDataLst>
              <p:tags r:id="rId7"/>
            </p:custDataLst>
          </p:nvPr>
        </p:nvSpPr>
        <p:spPr>
          <a:xfrm>
            <a:off x="687824" y="3668911"/>
            <a:ext cx="664964" cy="1223605"/>
          </a:xfrm>
          <a:prstGeom prst="rect">
            <a:avLst/>
          </a:prstGeom>
          <a:solidFill>
            <a:srgbClr val="E5DFD2"/>
          </a:solidFill>
        </p:spPr>
        <p:txBody>
          <a:bodyPr/>
          <a:lstStyle/>
          <a:p>
            <a:endParaRPr lang="en-US"/>
          </a:p>
        </p:txBody>
      </p:sp>
      <p:sp>
        <p:nvSpPr>
          <p:cNvPr id="12" name="Text 9"/>
          <p:cNvSpPr/>
          <p:nvPr>
            <p:custDataLst>
              <p:tags r:id="rId8"/>
            </p:custDataLst>
          </p:nvPr>
        </p:nvSpPr>
        <p:spPr>
          <a:xfrm>
            <a:off x="895588" y="4124801"/>
            <a:ext cx="249317" cy="311706"/>
          </a:xfrm>
          <a:prstGeom prst="rect">
            <a:avLst/>
          </a:prstGeom>
          <a:noFill/>
        </p:spPr>
        <p:txBody>
          <a:bodyPr wrap="none" lIns="0" tIns="0" rIns="0" bIns="0" rtlCol="0" anchor="t"/>
          <a:lstStyle/>
          <a:p>
            <a:pPr marL="0" indent="0" algn="l">
              <a:lnSpc>
                <a:spcPts val="1950"/>
              </a:lnSpc>
              <a:buNone/>
            </a:pPr>
            <a:r>
              <a:rPr lang="en-US" sz="1950" b="1" dirty="0">
                <a:solidFill>
                  <a:srgbClr val="4A4A45"/>
                </a:solidFill>
                <a:latin typeface="Lato Bold" pitchFamily="34" charset="0"/>
                <a:ea typeface="Lato Bold" pitchFamily="34" charset="-122"/>
                <a:cs typeface="Lato Bold" pitchFamily="34" charset="-120"/>
              </a:rPr>
              <a:t>2</a:t>
            </a:r>
            <a:endParaRPr lang="en-US" sz="1950" dirty="0"/>
          </a:p>
        </p:txBody>
      </p:sp>
      <p:sp>
        <p:nvSpPr>
          <p:cNvPr id="13" name="Text 10"/>
          <p:cNvSpPr/>
          <p:nvPr>
            <p:custDataLst>
              <p:tags r:id="rId9"/>
            </p:custDataLst>
          </p:nvPr>
        </p:nvSpPr>
        <p:spPr>
          <a:xfrm>
            <a:off x="1518999" y="3835122"/>
            <a:ext cx="2078236" cy="259794"/>
          </a:xfrm>
          <a:prstGeom prst="rect">
            <a:avLst/>
          </a:prstGeom>
          <a:noFill/>
        </p:spPr>
        <p:txBody>
          <a:bodyPr wrap="none" lIns="0" tIns="0" rIns="0" bIns="0" rtlCol="0" anchor="t"/>
          <a:lstStyle/>
          <a:p>
            <a:pPr marL="0" indent="0" algn="l">
              <a:lnSpc>
                <a:spcPts val="2000"/>
              </a:lnSpc>
              <a:buNone/>
            </a:pPr>
            <a:r>
              <a:rPr lang="en-US" sz="1600" b="1" dirty="0">
                <a:solidFill>
                  <a:srgbClr val="4A4A45"/>
                </a:solidFill>
                <a:latin typeface="Lato Bold" pitchFamily="34" charset="0"/>
                <a:ea typeface="Lato Bold" pitchFamily="34" charset="-122"/>
                <a:cs typeface="Lato Bold" pitchFamily="34" charset="-120"/>
              </a:rPr>
              <a:t>Programmer</a:t>
            </a:r>
            <a:endParaRPr lang="en-US" sz="1600" dirty="0"/>
          </a:p>
        </p:txBody>
      </p:sp>
      <p:sp>
        <p:nvSpPr>
          <p:cNvPr id="14" name="Text 11"/>
          <p:cNvSpPr/>
          <p:nvPr>
            <p:custDataLst>
              <p:tags r:id="rId10"/>
            </p:custDataLst>
          </p:nvPr>
        </p:nvSpPr>
        <p:spPr>
          <a:xfrm>
            <a:off x="1518999" y="4194572"/>
            <a:ext cx="6770965" cy="531733"/>
          </a:xfrm>
          <a:prstGeom prst="rect">
            <a:avLst/>
          </a:prstGeom>
          <a:noFill/>
        </p:spPr>
        <p:txBody>
          <a:bodyPr wrap="square" lIns="0" tIns="0" rIns="0" bIns="0" rtlCol="0" anchor="t"/>
          <a:lstStyle/>
          <a:p>
            <a:pPr marL="0" indent="0" algn="l">
              <a:lnSpc>
                <a:spcPts val="2050"/>
              </a:lnSpc>
              <a:buNone/>
            </a:pPr>
            <a:r>
              <a:rPr lang="en-US" sz="1300" dirty="0">
                <a:solidFill>
                  <a:srgbClr val="4A4A45"/>
                </a:solidFill>
                <a:latin typeface="Lato" panose="020F0802020204030203" pitchFamily="34" charset="0"/>
                <a:ea typeface="Lato" panose="020F0802020204030203" pitchFamily="34" charset="-122"/>
                <a:cs typeface="Lato" panose="020F0802020204030203" pitchFamily="34" charset="-120"/>
                <a:sym typeface="+mn-ea"/>
              </a:rPr>
              <a:t>Lutfi Muhammad Hafiz </a:t>
            </a:r>
            <a:r>
              <a:rPr lang="en-US" sz="1300" dirty="0">
                <a:solidFill>
                  <a:srgbClr val="4A4A45"/>
                </a:solidFill>
                <a:latin typeface="Lato" panose="020F0802020204030203" pitchFamily="34" charset="0"/>
                <a:ea typeface="Lato" panose="020F0802020204030203" pitchFamily="34" charset="-122"/>
                <a:cs typeface="Lato" panose="020F0802020204030203" pitchFamily="34" charset="-120"/>
              </a:rPr>
              <a:t> dan Hazel Ransy K: Menulis kode Python, mengimpor data dengan pandas, menghitung grade dan predikat wisuda.</a:t>
            </a:r>
            <a:endParaRPr lang="en-US" sz="1300" dirty="0"/>
          </a:p>
        </p:txBody>
      </p:sp>
      <p:sp>
        <p:nvSpPr>
          <p:cNvPr id="15" name="Shape 12"/>
          <p:cNvSpPr/>
          <p:nvPr>
            <p:custDataLst>
              <p:tags r:id="rId11"/>
            </p:custDataLst>
          </p:nvPr>
        </p:nvSpPr>
        <p:spPr>
          <a:xfrm>
            <a:off x="664964" y="5081588"/>
            <a:ext cx="7814072" cy="1269325"/>
          </a:xfrm>
          <a:prstGeom prst="roundRect">
            <a:avLst>
              <a:gd name="adj" fmla="val 1965"/>
            </a:avLst>
          </a:prstGeom>
          <a:solidFill>
            <a:srgbClr val="EFECE6"/>
          </a:solidFill>
          <a:ln w="22860">
            <a:solidFill>
              <a:srgbClr val="CBC5B8"/>
            </a:solidFill>
            <a:prstDash val="solid"/>
          </a:ln>
        </p:spPr>
        <p:txBody>
          <a:bodyPr/>
          <a:lstStyle/>
          <a:p>
            <a:endParaRPr lang="en-US"/>
          </a:p>
        </p:txBody>
      </p:sp>
      <p:sp>
        <p:nvSpPr>
          <p:cNvPr id="16" name="Shape 13"/>
          <p:cNvSpPr/>
          <p:nvPr>
            <p:custDataLst>
              <p:tags r:id="rId12"/>
            </p:custDataLst>
          </p:nvPr>
        </p:nvSpPr>
        <p:spPr>
          <a:xfrm>
            <a:off x="687824" y="5104448"/>
            <a:ext cx="664964" cy="1223605"/>
          </a:xfrm>
          <a:prstGeom prst="rect">
            <a:avLst/>
          </a:prstGeom>
          <a:solidFill>
            <a:srgbClr val="E5DFD2"/>
          </a:solidFill>
        </p:spPr>
        <p:txBody>
          <a:bodyPr/>
          <a:lstStyle/>
          <a:p>
            <a:endParaRPr lang="en-US"/>
          </a:p>
        </p:txBody>
      </p:sp>
      <p:sp>
        <p:nvSpPr>
          <p:cNvPr id="17" name="Text 14"/>
          <p:cNvSpPr/>
          <p:nvPr>
            <p:custDataLst>
              <p:tags r:id="rId13"/>
            </p:custDataLst>
          </p:nvPr>
        </p:nvSpPr>
        <p:spPr>
          <a:xfrm>
            <a:off x="895588" y="5560338"/>
            <a:ext cx="249317" cy="311706"/>
          </a:xfrm>
          <a:prstGeom prst="rect">
            <a:avLst/>
          </a:prstGeom>
          <a:noFill/>
        </p:spPr>
        <p:txBody>
          <a:bodyPr wrap="none" lIns="0" tIns="0" rIns="0" bIns="0" rtlCol="0" anchor="t"/>
          <a:lstStyle/>
          <a:p>
            <a:pPr marL="0" indent="0" algn="l">
              <a:lnSpc>
                <a:spcPts val="1950"/>
              </a:lnSpc>
              <a:buNone/>
            </a:pPr>
            <a:r>
              <a:rPr lang="en-US" sz="1950" b="1" dirty="0">
                <a:solidFill>
                  <a:srgbClr val="4A4A45"/>
                </a:solidFill>
                <a:latin typeface="Lato Bold" pitchFamily="34" charset="0"/>
                <a:ea typeface="Lato Bold" pitchFamily="34" charset="-122"/>
                <a:cs typeface="Lato Bold" pitchFamily="34" charset="-120"/>
              </a:rPr>
              <a:t>3</a:t>
            </a:r>
            <a:endParaRPr lang="en-US" sz="1950" dirty="0"/>
          </a:p>
        </p:txBody>
      </p:sp>
      <p:sp>
        <p:nvSpPr>
          <p:cNvPr id="18" name="Text 15"/>
          <p:cNvSpPr/>
          <p:nvPr>
            <p:custDataLst>
              <p:tags r:id="rId14"/>
            </p:custDataLst>
          </p:nvPr>
        </p:nvSpPr>
        <p:spPr>
          <a:xfrm>
            <a:off x="1518999" y="5270659"/>
            <a:ext cx="2078236" cy="259794"/>
          </a:xfrm>
          <a:prstGeom prst="rect">
            <a:avLst/>
          </a:prstGeom>
          <a:noFill/>
        </p:spPr>
        <p:txBody>
          <a:bodyPr wrap="none" lIns="0" tIns="0" rIns="0" bIns="0" rtlCol="0" anchor="t"/>
          <a:lstStyle/>
          <a:p>
            <a:pPr marL="0" indent="0" algn="l">
              <a:lnSpc>
                <a:spcPts val="2000"/>
              </a:lnSpc>
              <a:buNone/>
            </a:pPr>
            <a:r>
              <a:rPr lang="en-US" sz="1600" b="1" dirty="0">
                <a:solidFill>
                  <a:srgbClr val="4A4A45"/>
                </a:solidFill>
                <a:latin typeface="Lato Bold" pitchFamily="34" charset="0"/>
                <a:ea typeface="Lato Bold" pitchFamily="34" charset="-122"/>
                <a:cs typeface="Lato Bold" pitchFamily="34" charset="-120"/>
              </a:rPr>
              <a:t>Visual Designer</a:t>
            </a:r>
            <a:endParaRPr lang="en-US" sz="1600" dirty="0"/>
          </a:p>
        </p:txBody>
      </p:sp>
      <p:sp>
        <p:nvSpPr>
          <p:cNvPr id="19" name="Text 16"/>
          <p:cNvSpPr/>
          <p:nvPr>
            <p:custDataLst>
              <p:tags r:id="rId15"/>
            </p:custDataLst>
          </p:nvPr>
        </p:nvSpPr>
        <p:spPr>
          <a:xfrm>
            <a:off x="1518999" y="5630108"/>
            <a:ext cx="6770965" cy="531733"/>
          </a:xfrm>
          <a:prstGeom prst="rect">
            <a:avLst/>
          </a:prstGeom>
          <a:noFill/>
        </p:spPr>
        <p:txBody>
          <a:bodyPr wrap="square" lIns="0" tIns="0" rIns="0" bIns="0" rtlCol="0" anchor="t"/>
          <a:lstStyle/>
          <a:p>
            <a:pPr marL="0" indent="0" algn="l">
              <a:lnSpc>
                <a:spcPts val="2050"/>
              </a:lnSpc>
              <a:buNone/>
            </a:pPr>
            <a:r>
              <a:rPr lang="en-US" sz="1300" dirty="0">
                <a:solidFill>
                  <a:srgbClr val="4A4A45"/>
                </a:solidFill>
                <a:latin typeface="Lato" panose="020F0802020204030203" pitchFamily="34" charset="0"/>
                <a:ea typeface="Lato" panose="020F0802020204030203" pitchFamily="34" charset="-122"/>
                <a:cs typeface="Lato" panose="020F0802020204030203" pitchFamily="34" charset="-120"/>
              </a:rPr>
              <a:t>Mukhamad Ferdiyanto: Membuat grafik dan mendesain visualisasi data menggunakan matplotlib.</a:t>
            </a:r>
            <a:endParaRPr lang="en-US" sz="1300" dirty="0"/>
          </a:p>
        </p:txBody>
      </p:sp>
      <p:sp>
        <p:nvSpPr>
          <p:cNvPr id="20" name="Shape 17"/>
          <p:cNvSpPr/>
          <p:nvPr>
            <p:custDataLst>
              <p:tags r:id="rId16"/>
            </p:custDataLst>
          </p:nvPr>
        </p:nvSpPr>
        <p:spPr>
          <a:xfrm>
            <a:off x="664964" y="6517124"/>
            <a:ext cx="7814072" cy="1269325"/>
          </a:xfrm>
          <a:prstGeom prst="roundRect">
            <a:avLst>
              <a:gd name="adj" fmla="val 1965"/>
            </a:avLst>
          </a:prstGeom>
          <a:solidFill>
            <a:srgbClr val="EFECE6"/>
          </a:solidFill>
          <a:ln w="22860">
            <a:solidFill>
              <a:srgbClr val="CBC5B8"/>
            </a:solidFill>
            <a:prstDash val="solid"/>
          </a:ln>
        </p:spPr>
        <p:txBody>
          <a:bodyPr/>
          <a:lstStyle/>
          <a:p>
            <a:endParaRPr lang="en-US"/>
          </a:p>
        </p:txBody>
      </p:sp>
      <p:sp>
        <p:nvSpPr>
          <p:cNvPr id="21" name="Shape 18"/>
          <p:cNvSpPr/>
          <p:nvPr>
            <p:custDataLst>
              <p:tags r:id="rId17"/>
            </p:custDataLst>
          </p:nvPr>
        </p:nvSpPr>
        <p:spPr>
          <a:xfrm>
            <a:off x="687824" y="6539984"/>
            <a:ext cx="664964" cy="1223605"/>
          </a:xfrm>
          <a:prstGeom prst="rect">
            <a:avLst/>
          </a:prstGeom>
          <a:solidFill>
            <a:srgbClr val="E5DFD2"/>
          </a:solidFill>
        </p:spPr>
        <p:txBody>
          <a:bodyPr/>
          <a:lstStyle/>
          <a:p>
            <a:endParaRPr lang="en-US"/>
          </a:p>
        </p:txBody>
      </p:sp>
      <p:sp>
        <p:nvSpPr>
          <p:cNvPr id="22" name="Text 19"/>
          <p:cNvSpPr/>
          <p:nvPr>
            <p:custDataLst>
              <p:tags r:id="rId18"/>
            </p:custDataLst>
          </p:nvPr>
        </p:nvSpPr>
        <p:spPr>
          <a:xfrm>
            <a:off x="895588" y="6995874"/>
            <a:ext cx="249317" cy="311706"/>
          </a:xfrm>
          <a:prstGeom prst="rect">
            <a:avLst/>
          </a:prstGeom>
          <a:noFill/>
        </p:spPr>
        <p:txBody>
          <a:bodyPr wrap="none" lIns="0" tIns="0" rIns="0" bIns="0" rtlCol="0" anchor="t"/>
          <a:lstStyle/>
          <a:p>
            <a:pPr marL="0" indent="0" algn="l">
              <a:lnSpc>
                <a:spcPts val="1950"/>
              </a:lnSpc>
              <a:buNone/>
            </a:pPr>
            <a:r>
              <a:rPr lang="en-US" sz="1950" b="1" dirty="0">
                <a:solidFill>
                  <a:srgbClr val="4A4A45"/>
                </a:solidFill>
                <a:latin typeface="Lato Bold" pitchFamily="34" charset="0"/>
                <a:ea typeface="Lato Bold" pitchFamily="34" charset="-122"/>
                <a:cs typeface="Lato Bold" pitchFamily="34" charset="-120"/>
              </a:rPr>
              <a:t>4</a:t>
            </a:r>
            <a:endParaRPr lang="en-US" sz="1950" dirty="0"/>
          </a:p>
        </p:txBody>
      </p:sp>
      <p:sp>
        <p:nvSpPr>
          <p:cNvPr id="23" name="Text 20"/>
          <p:cNvSpPr/>
          <p:nvPr>
            <p:custDataLst>
              <p:tags r:id="rId19"/>
            </p:custDataLst>
          </p:nvPr>
        </p:nvSpPr>
        <p:spPr>
          <a:xfrm>
            <a:off x="1518999" y="6706195"/>
            <a:ext cx="2078236" cy="259794"/>
          </a:xfrm>
          <a:prstGeom prst="rect">
            <a:avLst/>
          </a:prstGeom>
          <a:noFill/>
        </p:spPr>
        <p:txBody>
          <a:bodyPr wrap="none" lIns="0" tIns="0" rIns="0" bIns="0" rtlCol="0" anchor="t"/>
          <a:lstStyle/>
          <a:p>
            <a:pPr marL="0" indent="0" algn="l">
              <a:lnSpc>
                <a:spcPts val="2000"/>
              </a:lnSpc>
              <a:buNone/>
            </a:pPr>
            <a:r>
              <a:rPr lang="en-US" sz="1600" b="1" dirty="0">
                <a:solidFill>
                  <a:srgbClr val="4A4A45"/>
                </a:solidFill>
                <a:latin typeface="Lato Bold" pitchFamily="34" charset="0"/>
                <a:ea typeface="Lato Bold" pitchFamily="34" charset="-122"/>
                <a:cs typeface="Lato Bold" pitchFamily="34" charset="-120"/>
              </a:rPr>
              <a:t>Reporter</a:t>
            </a:r>
            <a:endParaRPr lang="en-US" sz="1600" dirty="0"/>
          </a:p>
        </p:txBody>
      </p:sp>
      <p:sp>
        <p:nvSpPr>
          <p:cNvPr id="24" name="Text 21"/>
          <p:cNvSpPr/>
          <p:nvPr>
            <p:custDataLst>
              <p:tags r:id="rId20"/>
            </p:custDataLst>
          </p:nvPr>
        </p:nvSpPr>
        <p:spPr>
          <a:xfrm>
            <a:off x="1518999" y="7065645"/>
            <a:ext cx="6770965" cy="531733"/>
          </a:xfrm>
          <a:prstGeom prst="rect">
            <a:avLst/>
          </a:prstGeom>
          <a:noFill/>
        </p:spPr>
        <p:txBody>
          <a:bodyPr wrap="square" lIns="0" tIns="0" rIns="0" bIns="0" rtlCol="0" anchor="t"/>
          <a:lstStyle/>
          <a:p>
            <a:pPr marL="0" indent="0" algn="l">
              <a:lnSpc>
                <a:spcPts val="2050"/>
              </a:lnSpc>
              <a:buNone/>
            </a:pPr>
            <a:r>
              <a:rPr lang="en-US" sz="1300" dirty="0">
                <a:solidFill>
                  <a:srgbClr val="4A4A45"/>
                </a:solidFill>
                <a:latin typeface="Lato" panose="020F0802020204030203" pitchFamily="34" charset="0"/>
                <a:ea typeface="Lato" panose="020F0802020204030203" pitchFamily="34" charset="-122"/>
                <a:cs typeface="Lato" panose="020F0802020204030203" pitchFamily="34" charset="-120"/>
              </a:rPr>
              <a:t>Maghfira Dhinantyas dan Muhammad Rizqi: Membuat laporan, menyajikan hasil, dan mengkoordinasi keseluruhan pekerjaan kelompok.</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726519" y="646152"/>
            <a:ext cx="5655826" cy="567571"/>
          </a:xfrm>
          <a:prstGeom prst="rect">
            <a:avLst/>
          </a:prstGeom>
          <a:noFill/>
        </p:spPr>
        <p:txBody>
          <a:bodyPr wrap="none" lIns="0" tIns="0" rIns="0" bIns="0" rtlCol="0" anchor="t"/>
          <a:lstStyle/>
          <a:p>
            <a:pPr marL="0" indent="0" algn="l">
              <a:lnSpc>
                <a:spcPts val="4450"/>
              </a:lnSpc>
              <a:buNone/>
            </a:pPr>
            <a:r>
              <a:rPr lang="en-US" sz="3550" b="1" dirty="0">
                <a:solidFill>
                  <a:srgbClr val="282824"/>
                </a:solidFill>
                <a:latin typeface="Lato Bold" pitchFamily="34" charset="0"/>
                <a:ea typeface="Lato Bold" pitchFamily="34" charset="-122"/>
                <a:cs typeface="Lato Bold" pitchFamily="34" charset="-120"/>
              </a:rPr>
              <a:t>Deskripsi Umum dan Tujuan</a:t>
            </a:r>
            <a:endParaRPr lang="en-US" sz="3550" dirty="0"/>
          </a:p>
        </p:txBody>
      </p:sp>
      <p:sp>
        <p:nvSpPr>
          <p:cNvPr id="4" name="Text 1"/>
          <p:cNvSpPr/>
          <p:nvPr/>
        </p:nvSpPr>
        <p:spPr>
          <a:xfrm>
            <a:off x="726519" y="1486138"/>
            <a:ext cx="7690961" cy="1162526"/>
          </a:xfrm>
          <a:prstGeom prst="rect">
            <a:avLst/>
          </a:prstGeom>
          <a:noFill/>
        </p:spPr>
        <p:txBody>
          <a:bodyPr wrap="square" lIns="0" tIns="0" rIns="0" bIns="0" rtlCol="0" anchor="t"/>
          <a:lstStyle/>
          <a:p>
            <a:pPr marL="0" indent="0" algn="l">
              <a:lnSpc>
                <a:spcPts val="2250"/>
              </a:lnSpc>
              <a:buNone/>
            </a:pPr>
            <a:r>
              <a:rPr lang="en-US" sz="1400" dirty="0">
                <a:solidFill>
                  <a:srgbClr val="4A4A45"/>
                </a:solidFill>
                <a:latin typeface="Lato" panose="020F0802020204030203" pitchFamily="34" charset="0"/>
                <a:ea typeface="Lato" panose="020F0802020204030203" pitchFamily="34" charset="-122"/>
                <a:cs typeface="Lato" panose="020F0802020204030203" pitchFamily="34" charset="-120"/>
              </a:rPr>
              <a:t>Program ini dirancang untuk menganalisis data calon wisudawan secara menyeluruh. Sistem melakukan perhitungan rata-rata nilai akhir, klasifikasi grade nilai akademik, dan penentuan predikat kelulusan berdasarkan IPK dan lama studi. Hasil analisis divisualisasikan menggunakan grafik untuk memudahkan interpretasi data dan pengambilan keputusan.</a:t>
            </a:r>
            <a:endParaRPr lang="en-US" sz="1400" dirty="0"/>
          </a:p>
        </p:txBody>
      </p:sp>
      <p:sp>
        <p:nvSpPr>
          <p:cNvPr id="5" name="Shape 2"/>
          <p:cNvSpPr/>
          <p:nvPr/>
        </p:nvSpPr>
        <p:spPr>
          <a:xfrm>
            <a:off x="726519" y="2852976"/>
            <a:ext cx="7690961" cy="1046440"/>
          </a:xfrm>
          <a:prstGeom prst="roundRect">
            <a:avLst>
              <a:gd name="adj" fmla="val 2604"/>
            </a:avLst>
          </a:prstGeom>
          <a:solidFill>
            <a:srgbClr val="E5DFD2"/>
          </a:solidFill>
        </p:spPr>
        <p:txBody>
          <a:bodyPr/>
          <a:lstStyle/>
          <a:p>
            <a:endParaRPr lang="en-US"/>
          </a:p>
        </p:txBody>
      </p:sp>
      <p:sp>
        <p:nvSpPr>
          <p:cNvPr id="6" name="Text 3"/>
          <p:cNvSpPr/>
          <p:nvPr/>
        </p:nvSpPr>
        <p:spPr>
          <a:xfrm>
            <a:off x="908090" y="3034546"/>
            <a:ext cx="2270641" cy="283726"/>
          </a:xfrm>
          <a:prstGeom prst="rect">
            <a:avLst/>
          </a:prstGeom>
          <a:noFill/>
        </p:spPr>
        <p:txBody>
          <a:bodyPr wrap="none" lIns="0" tIns="0" rIns="0" bIns="0" rtlCol="0" anchor="t"/>
          <a:lstStyle/>
          <a:p>
            <a:pPr marL="0" indent="0" algn="l">
              <a:lnSpc>
                <a:spcPts val="2200"/>
              </a:lnSpc>
              <a:buNone/>
            </a:pPr>
            <a:r>
              <a:rPr lang="en-US" sz="1750" b="1" dirty="0">
                <a:solidFill>
                  <a:srgbClr val="4A4A45"/>
                </a:solidFill>
                <a:latin typeface="Lato Bold" pitchFamily="34" charset="0"/>
                <a:ea typeface="Lato Bold" pitchFamily="34" charset="-122"/>
                <a:cs typeface="Lato Bold" pitchFamily="34" charset="-120"/>
              </a:rPr>
              <a:t>Data Cleansing</a:t>
            </a:r>
            <a:endParaRPr lang="en-US" sz="1750" dirty="0"/>
          </a:p>
        </p:txBody>
      </p:sp>
      <p:sp>
        <p:nvSpPr>
          <p:cNvPr id="7" name="Text 4"/>
          <p:cNvSpPr/>
          <p:nvPr/>
        </p:nvSpPr>
        <p:spPr>
          <a:xfrm>
            <a:off x="908090" y="3427214"/>
            <a:ext cx="7327821" cy="290632"/>
          </a:xfrm>
          <a:prstGeom prst="rect">
            <a:avLst/>
          </a:prstGeom>
          <a:noFill/>
        </p:spPr>
        <p:txBody>
          <a:bodyPr wrap="none" lIns="0" tIns="0" rIns="0" bIns="0" rtlCol="0" anchor="t"/>
          <a:lstStyle/>
          <a:p>
            <a:pPr marL="0" indent="0" algn="l">
              <a:lnSpc>
                <a:spcPts val="2250"/>
              </a:lnSpc>
              <a:buNone/>
            </a:pPr>
            <a:r>
              <a:rPr lang="en-US" sz="1400" dirty="0">
                <a:solidFill>
                  <a:srgbClr val="4A4A45"/>
                </a:solidFill>
                <a:latin typeface="Lato" panose="020F0802020204030203" pitchFamily="34" charset="0"/>
                <a:ea typeface="Lato" panose="020F0802020204030203" pitchFamily="34" charset="-122"/>
                <a:cs typeface="Lato" panose="020F0802020204030203" pitchFamily="34" charset="-120"/>
              </a:rPr>
              <a:t>Persiapan dan pembersihan data dari file Excel</a:t>
            </a:r>
            <a:endParaRPr lang="en-US" sz="1400" dirty="0"/>
          </a:p>
        </p:txBody>
      </p:sp>
      <p:sp>
        <p:nvSpPr>
          <p:cNvPr id="8" name="Shape 5"/>
          <p:cNvSpPr/>
          <p:nvPr/>
        </p:nvSpPr>
        <p:spPr>
          <a:xfrm>
            <a:off x="726519" y="4080986"/>
            <a:ext cx="7690961" cy="1046440"/>
          </a:xfrm>
          <a:prstGeom prst="roundRect">
            <a:avLst>
              <a:gd name="adj" fmla="val 2604"/>
            </a:avLst>
          </a:prstGeom>
          <a:solidFill>
            <a:srgbClr val="E5DFD2"/>
          </a:solidFill>
        </p:spPr>
        <p:txBody>
          <a:bodyPr/>
          <a:lstStyle/>
          <a:p>
            <a:endParaRPr lang="en-US"/>
          </a:p>
        </p:txBody>
      </p:sp>
      <p:sp>
        <p:nvSpPr>
          <p:cNvPr id="9" name="Text 6"/>
          <p:cNvSpPr/>
          <p:nvPr/>
        </p:nvSpPr>
        <p:spPr>
          <a:xfrm>
            <a:off x="908090" y="4262557"/>
            <a:ext cx="2270641" cy="283726"/>
          </a:xfrm>
          <a:prstGeom prst="rect">
            <a:avLst/>
          </a:prstGeom>
          <a:noFill/>
        </p:spPr>
        <p:txBody>
          <a:bodyPr wrap="none" lIns="0" tIns="0" rIns="0" bIns="0" rtlCol="0" anchor="t"/>
          <a:lstStyle/>
          <a:p>
            <a:pPr marL="0" indent="0" algn="l">
              <a:lnSpc>
                <a:spcPts val="2200"/>
              </a:lnSpc>
              <a:buNone/>
            </a:pPr>
            <a:r>
              <a:rPr lang="en-US" sz="1750" b="1" dirty="0">
                <a:solidFill>
                  <a:srgbClr val="4A4A45"/>
                </a:solidFill>
                <a:latin typeface="Lato Bold" pitchFamily="34" charset="0"/>
                <a:ea typeface="Lato Bold" pitchFamily="34" charset="-122"/>
                <a:cs typeface="Lato Bold" pitchFamily="34" charset="-120"/>
              </a:rPr>
              <a:t>Perhitungan Statistik</a:t>
            </a:r>
            <a:endParaRPr lang="en-US" sz="1750" dirty="0"/>
          </a:p>
        </p:txBody>
      </p:sp>
      <p:sp>
        <p:nvSpPr>
          <p:cNvPr id="10" name="Text 7"/>
          <p:cNvSpPr/>
          <p:nvPr/>
        </p:nvSpPr>
        <p:spPr>
          <a:xfrm>
            <a:off x="908090" y="4655225"/>
            <a:ext cx="7327821" cy="290632"/>
          </a:xfrm>
          <a:prstGeom prst="rect">
            <a:avLst/>
          </a:prstGeom>
          <a:noFill/>
        </p:spPr>
        <p:txBody>
          <a:bodyPr wrap="none" lIns="0" tIns="0" rIns="0" bIns="0" rtlCol="0" anchor="t"/>
          <a:lstStyle/>
          <a:p>
            <a:pPr marL="0" indent="0" algn="l">
              <a:lnSpc>
                <a:spcPts val="2250"/>
              </a:lnSpc>
              <a:buNone/>
            </a:pPr>
            <a:r>
              <a:rPr lang="en-US" sz="1400" dirty="0">
                <a:solidFill>
                  <a:srgbClr val="4A4A45"/>
                </a:solidFill>
                <a:latin typeface="Lato" panose="020F0802020204030203" pitchFamily="34" charset="0"/>
                <a:ea typeface="Lato" panose="020F0802020204030203" pitchFamily="34" charset="-122"/>
                <a:cs typeface="Lato" panose="020F0802020204030203" pitchFamily="34" charset="-120"/>
              </a:rPr>
              <a:t>Rata-rata nilai akhir per program studi</a:t>
            </a:r>
            <a:endParaRPr lang="en-US" sz="1400" dirty="0"/>
          </a:p>
        </p:txBody>
      </p:sp>
      <p:sp>
        <p:nvSpPr>
          <p:cNvPr id="11" name="Shape 8"/>
          <p:cNvSpPr/>
          <p:nvPr/>
        </p:nvSpPr>
        <p:spPr>
          <a:xfrm>
            <a:off x="726519" y="5308997"/>
            <a:ext cx="7690961" cy="1046440"/>
          </a:xfrm>
          <a:prstGeom prst="roundRect">
            <a:avLst>
              <a:gd name="adj" fmla="val 2604"/>
            </a:avLst>
          </a:prstGeom>
          <a:solidFill>
            <a:srgbClr val="E5DFD2"/>
          </a:solidFill>
        </p:spPr>
        <p:txBody>
          <a:bodyPr/>
          <a:lstStyle/>
          <a:p>
            <a:endParaRPr lang="en-US"/>
          </a:p>
        </p:txBody>
      </p:sp>
      <p:sp>
        <p:nvSpPr>
          <p:cNvPr id="12" name="Text 9"/>
          <p:cNvSpPr/>
          <p:nvPr/>
        </p:nvSpPr>
        <p:spPr>
          <a:xfrm>
            <a:off x="908090" y="5490567"/>
            <a:ext cx="2270641" cy="283726"/>
          </a:xfrm>
          <a:prstGeom prst="rect">
            <a:avLst/>
          </a:prstGeom>
          <a:noFill/>
        </p:spPr>
        <p:txBody>
          <a:bodyPr wrap="none" lIns="0" tIns="0" rIns="0" bIns="0" rtlCol="0" anchor="t"/>
          <a:lstStyle/>
          <a:p>
            <a:pPr marL="0" indent="0" algn="l">
              <a:lnSpc>
                <a:spcPts val="2200"/>
              </a:lnSpc>
              <a:buNone/>
            </a:pPr>
            <a:r>
              <a:rPr lang="en-US" sz="1750" b="1" dirty="0">
                <a:solidFill>
                  <a:srgbClr val="4A4A45"/>
                </a:solidFill>
                <a:latin typeface="Lato Bold" pitchFamily="34" charset="0"/>
                <a:ea typeface="Lato Bold" pitchFamily="34" charset="-122"/>
                <a:cs typeface="Lato Bold" pitchFamily="34" charset="-120"/>
              </a:rPr>
              <a:t>Klasifikasi Otomatis</a:t>
            </a:r>
            <a:endParaRPr lang="en-US" sz="1750" dirty="0"/>
          </a:p>
        </p:txBody>
      </p:sp>
      <p:sp>
        <p:nvSpPr>
          <p:cNvPr id="13" name="Text 10"/>
          <p:cNvSpPr/>
          <p:nvPr/>
        </p:nvSpPr>
        <p:spPr>
          <a:xfrm>
            <a:off x="908090" y="5883235"/>
            <a:ext cx="7327821" cy="290632"/>
          </a:xfrm>
          <a:prstGeom prst="rect">
            <a:avLst/>
          </a:prstGeom>
          <a:noFill/>
        </p:spPr>
        <p:txBody>
          <a:bodyPr wrap="none" lIns="0" tIns="0" rIns="0" bIns="0" rtlCol="0" anchor="t"/>
          <a:lstStyle/>
          <a:p>
            <a:pPr marL="0" indent="0" algn="l">
              <a:lnSpc>
                <a:spcPts val="2250"/>
              </a:lnSpc>
              <a:buNone/>
            </a:pPr>
            <a:r>
              <a:rPr lang="en-US" sz="1400" dirty="0">
                <a:solidFill>
                  <a:srgbClr val="4A4A45"/>
                </a:solidFill>
                <a:latin typeface="Lato" panose="020F0802020204030203" pitchFamily="34" charset="0"/>
                <a:ea typeface="Lato" panose="020F0802020204030203" pitchFamily="34" charset="-122"/>
                <a:cs typeface="Lato" panose="020F0802020204030203" pitchFamily="34" charset="-120"/>
              </a:rPr>
              <a:t>Grade dan predikat kelulusan berdasarkan kriteria</a:t>
            </a:r>
            <a:endParaRPr lang="en-US" sz="1400" dirty="0"/>
          </a:p>
        </p:txBody>
      </p:sp>
      <p:sp>
        <p:nvSpPr>
          <p:cNvPr id="14" name="Shape 11"/>
          <p:cNvSpPr/>
          <p:nvPr/>
        </p:nvSpPr>
        <p:spPr>
          <a:xfrm>
            <a:off x="726519" y="6537008"/>
            <a:ext cx="7690961" cy="1046440"/>
          </a:xfrm>
          <a:prstGeom prst="roundRect">
            <a:avLst>
              <a:gd name="adj" fmla="val 2604"/>
            </a:avLst>
          </a:prstGeom>
          <a:solidFill>
            <a:srgbClr val="E5DFD2"/>
          </a:solidFill>
        </p:spPr>
        <p:txBody>
          <a:bodyPr/>
          <a:lstStyle/>
          <a:p>
            <a:endParaRPr lang="en-US"/>
          </a:p>
        </p:txBody>
      </p:sp>
      <p:sp>
        <p:nvSpPr>
          <p:cNvPr id="15" name="Text 12"/>
          <p:cNvSpPr/>
          <p:nvPr/>
        </p:nvSpPr>
        <p:spPr>
          <a:xfrm>
            <a:off x="908090" y="6718578"/>
            <a:ext cx="2270641" cy="283726"/>
          </a:xfrm>
          <a:prstGeom prst="rect">
            <a:avLst/>
          </a:prstGeom>
          <a:noFill/>
        </p:spPr>
        <p:txBody>
          <a:bodyPr wrap="none" lIns="0" tIns="0" rIns="0" bIns="0" rtlCol="0" anchor="t"/>
          <a:lstStyle/>
          <a:p>
            <a:pPr marL="0" indent="0" algn="l">
              <a:lnSpc>
                <a:spcPts val="2200"/>
              </a:lnSpc>
              <a:buNone/>
            </a:pPr>
            <a:r>
              <a:rPr lang="en-US" sz="1750" b="1" dirty="0">
                <a:solidFill>
                  <a:srgbClr val="4A4A45"/>
                </a:solidFill>
                <a:latin typeface="Lato Bold" pitchFamily="34" charset="0"/>
                <a:ea typeface="Lato Bold" pitchFamily="34" charset="-122"/>
                <a:cs typeface="Lato Bold" pitchFamily="34" charset="-120"/>
              </a:rPr>
              <a:t>Visualisasi Hasil</a:t>
            </a:r>
            <a:endParaRPr lang="en-US" sz="1750" dirty="0"/>
          </a:p>
        </p:txBody>
      </p:sp>
      <p:sp>
        <p:nvSpPr>
          <p:cNvPr id="16" name="Text 13"/>
          <p:cNvSpPr/>
          <p:nvPr/>
        </p:nvSpPr>
        <p:spPr>
          <a:xfrm>
            <a:off x="908090" y="7111246"/>
            <a:ext cx="7327821" cy="290632"/>
          </a:xfrm>
          <a:prstGeom prst="rect">
            <a:avLst/>
          </a:prstGeom>
          <a:noFill/>
        </p:spPr>
        <p:txBody>
          <a:bodyPr wrap="none" lIns="0" tIns="0" rIns="0" bIns="0" rtlCol="0" anchor="t"/>
          <a:lstStyle/>
          <a:p>
            <a:pPr marL="0" indent="0" algn="l">
              <a:lnSpc>
                <a:spcPts val="2250"/>
              </a:lnSpc>
              <a:buNone/>
            </a:pPr>
            <a:r>
              <a:rPr lang="en-US" sz="1400" dirty="0">
                <a:solidFill>
                  <a:srgbClr val="4A4A45"/>
                </a:solidFill>
                <a:latin typeface="Lato" panose="020F0802020204030203" pitchFamily="34" charset="0"/>
                <a:ea typeface="Lato" panose="020F0802020204030203" pitchFamily="34" charset="-122"/>
                <a:cs typeface="Lato" panose="020F0802020204030203" pitchFamily="34" charset="-120"/>
              </a:rPr>
              <a:t>Grafik batang, pie chart, dan analisis perbandingan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188869" y="620554"/>
            <a:ext cx="6484263" cy="548878"/>
          </a:xfrm>
          <a:prstGeom prst="rect">
            <a:avLst/>
          </a:prstGeom>
          <a:noFill/>
        </p:spPr>
        <p:txBody>
          <a:bodyPr wrap="none" lIns="0" tIns="0" rIns="0" bIns="0" rtlCol="0" anchor="t"/>
          <a:lstStyle/>
          <a:p>
            <a:pPr marL="0" indent="0" algn="l">
              <a:lnSpc>
                <a:spcPts val="4300"/>
              </a:lnSpc>
              <a:buNone/>
            </a:pPr>
            <a:r>
              <a:rPr lang="en-US" sz="3450" b="1" dirty="0">
                <a:solidFill>
                  <a:srgbClr val="282824"/>
                </a:solidFill>
                <a:latin typeface="Lato Bold" pitchFamily="34" charset="0"/>
                <a:ea typeface="Lato Bold" pitchFamily="34" charset="-122"/>
                <a:cs typeface="Lato Bold" pitchFamily="34" charset="-120"/>
              </a:rPr>
              <a:t>Tahapan Proses Pengolahan Data</a:t>
            </a:r>
            <a:endParaRPr lang="en-US" sz="3450" dirty="0"/>
          </a:p>
        </p:txBody>
      </p:sp>
      <p:sp>
        <p:nvSpPr>
          <p:cNvPr id="4" name="Text 1"/>
          <p:cNvSpPr/>
          <p:nvPr/>
        </p:nvSpPr>
        <p:spPr>
          <a:xfrm>
            <a:off x="6188869" y="1432798"/>
            <a:ext cx="175617" cy="219551"/>
          </a:xfrm>
          <a:prstGeom prst="rect">
            <a:avLst/>
          </a:prstGeom>
          <a:noFill/>
        </p:spPr>
        <p:txBody>
          <a:bodyPr wrap="none" lIns="0" tIns="0" rIns="0" bIns="0" rtlCol="0" anchor="t"/>
          <a:lstStyle/>
          <a:p>
            <a:pPr marL="0" indent="0" algn="l">
              <a:lnSpc>
                <a:spcPts val="2200"/>
              </a:lnSpc>
              <a:buNone/>
            </a:pPr>
            <a:r>
              <a:rPr lang="en-US" sz="1350" dirty="0">
                <a:solidFill>
                  <a:srgbClr val="4A4A45"/>
                </a:solidFill>
                <a:latin typeface="Lato Light" pitchFamily="34" charset="0"/>
                <a:ea typeface="Lato Light" pitchFamily="34" charset="-122"/>
                <a:cs typeface="Lato Light" pitchFamily="34" charset="-120"/>
              </a:rPr>
              <a:t>01</a:t>
            </a:r>
            <a:endParaRPr lang="en-US" sz="1350" dirty="0"/>
          </a:p>
        </p:txBody>
      </p:sp>
      <p:sp>
        <p:nvSpPr>
          <p:cNvPr id="5" name="Shape 2"/>
          <p:cNvSpPr/>
          <p:nvPr/>
        </p:nvSpPr>
        <p:spPr>
          <a:xfrm>
            <a:off x="6188869" y="1708428"/>
            <a:ext cx="7739062" cy="22860"/>
          </a:xfrm>
          <a:prstGeom prst="rect">
            <a:avLst/>
          </a:prstGeom>
          <a:solidFill>
            <a:srgbClr val="282824"/>
          </a:solidFill>
        </p:spPr>
        <p:txBody>
          <a:bodyPr/>
          <a:lstStyle/>
          <a:p>
            <a:endParaRPr lang="en-US"/>
          </a:p>
        </p:txBody>
      </p:sp>
      <p:sp>
        <p:nvSpPr>
          <p:cNvPr id="6" name="Text 3"/>
          <p:cNvSpPr/>
          <p:nvPr/>
        </p:nvSpPr>
        <p:spPr>
          <a:xfrm>
            <a:off x="6188869" y="1841897"/>
            <a:ext cx="2195513" cy="274439"/>
          </a:xfrm>
          <a:prstGeom prst="rect">
            <a:avLst/>
          </a:prstGeom>
          <a:noFill/>
        </p:spPr>
        <p:txBody>
          <a:bodyPr wrap="none" lIns="0" tIns="0" rIns="0" bIns="0" rtlCol="0" anchor="t"/>
          <a:lstStyle/>
          <a:p>
            <a:pPr marL="0" indent="0" algn="l">
              <a:lnSpc>
                <a:spcPts val="2150"/>
              </a:lnSpc>
              <a:buNone/>
            </a:pPr>
            <a:r>
              <a:rPr lang="en-US" sz="1700" b="1" dirty="0">
                <a:solidFill>
                  <a:srgbClr val="4A4A45"/>
                </a:solidFill>
                <a:latin typeface="Lato Bold" pitchFamily="34" charset="0"/>
                <a:ea typeface="Lato Bold" pitchFamily="34" charset="-122"/>
                <a:cs typeface="Lato Bold" pitchFamily="34" charset="-120"/>
              </a:rPr>
              <a:t>Import Data</a:t>
            </a:r>
            <a:endParaRPr lang="en-US" sz="1700" dirty="0"/>
          </a:p>
        </p:txBody>
      </p:sp>
      <p:sp>
        <p:nvSpPr>
          <p:cNvPr id="7" name="Text 4"/>
          <p:cNvSpPr/>
          <p:nvPr/>
        </p:nvSpPr>
        <p:spPr>
          <a:xfrm>
            <a:off x="6188869" y="2221706"/>
            <a:ext cx="7739062" cy="561975"/>
          </a:xfrm>
          <a:prstGeom prst="rect">
            <a:avLst/>
          </a:prstGeom>
          <a:noFill/>
        </p:spPr>
        <p:txBody>
          <a:bodyPr wrap="square" lIns="0" tIns="0" rIns="0" bIns="0" rtlCol="0" anchor="t"/>
          <a:lstStyle/>
          <a:p>
            <a:pPr marL="0" indent="0" algn="l">
              <a:lnSpc>
                <a:spcPts val="2200"/>
              </a:lnSpc>
              <a:buNone/>
            </a:pPr>
            <a:r>
              <a:rPr lang="en-US" sz="1350" dirty="0">
                <a:solidFill>
                  <a:srgbClr val="4A4A45"/>
                </a:solidFill>
                <a:latin typeface="Lato" panose="020F0802020204030203" pitchFamily="34" charset="0"/>
                <a:ea typeface="Lato" panose="020F0802020204030203" pitchFamily="34" charset="-122"/>
                <a:cs typeface="Lato" panose="020F0802020204030203" pitchFamily="34" charset="-120"/>
              </a:rPr>
              <a:t>Lakukan data cleansing dan baca data mahasiswa dari file Excel menggunakan library pandas untuk memastikan kualitas data.</a:t>
            </a:r>
            <a:endParaRPr lang="en-US" sz="1350" dirty="0"/>
          </a:p>
        </p:txBody>
      </p:sp>
      <p:sp>
        <p:nvSpPr>
          <p:cNvPr id="8" name="Text 5"/>
          <p:cNvSpPr/>
          <p:nvPr/>
        </p:nvSpPr>
        <p:spPr>
          <a:xfrm>
            <a:off x="6188869" y="3090982"/>
            <a:ext cx="175617" cy="219551"/>
          </a:xfrm>
          <a:prstGeom prst="rect">
            <a:avLst/>
          </a:prstGeom>
          <a:noFill/>
        </p:spPr>
        <p:txBody>
          <a:bodyPr wrap="none" lIns="0" tIns="0" rIns="0" bIns="0" rtlCol="0" anchor="t"/>
          <a:lstStyle/>
          <a:p>
            <a:pPr marL="0" indent="0" algn="l">
              <a:lnSpc>
                <a:spcPts val="2200"/>
              </a:lnSpc>
              <a:buNone/>
            </a:pPr>
            <a:r>
              <a:rPr lang="en-US" sz="1350" dirty="0">
                <a:solidFill>
                  <a:srgbClr val="4A4A45"/>
                </a:solidFill>
                <a:latin typeface="Lato Light" pitchFamily="34" charset="0"/>
                <a:ea typeface="Lato Light" pitchFamily="34" charset="-122"/>
                <a:cs typeface="Lato Light" pitchFamily="34" charset="-120"/>
              </a:rPr>
              <a:t>02</a:t>
            </a:r>
            <a:endParaRPr lang="en-US" sz="1350" dirty="0"/>
          </a:p>
        </p:txBody>
      </p:sp>
      <p:sp>
        <p:nvSpPr>
          <p:cNvPr id="9" name="Shape 6"/>
          <p:cNvSpPr/>
          <p:nvPr/>
        </p:nvSpPr>
        <p:spPr>
          <a:xfrm>
            <a:off x="6188869" y="3366611"/>
            <a:ext cx="7739062" cy="22860"/>
          </a:xfrm>
          <a:prstGeom prst="rect">
            <a:avLst/>
          </a:prstGeom>
          <a:solidFill>
            <a:srgbClr val="282824"/>
          </a:solidFill>
        </p:spPr>
        <p:txBody>
          <a:bodyPr/>
          <a:lstStyle/>
          <a:p>
            <a:endParaRPr lang="en-US"/>
          </a:p>
        </p:txBody>
      </p:sp>
      <p:sp>
        <p:nvSpPr>
          <p:cNvPr id="10" name="Text 7"/>
          <p:cNvSpPr/>
          <p:nvPr/>
        </p:nvSpPr>
        <p:spPr>
          <a:xfrm>
            <a:off x="6188869" y="3500080"/>
            <a:ext cx="2623423" cy="274439"/>
          </a:xfrm>
          <a:prstGeom prst="rect">
            <a:avLst/>
          </a:prstGeom>
          <a:noFill/>
        </p:spPr>
        <p:txBody>
          <a:bodyPr wrap="none" lIns="0" tIns="0" rIns="0" bIns="0" rtlCol="0" anchor="t"/>
          <a:lstStyle/>
          <a:p>
            <a:pPr marL="0" indent="0" algn="l">
              <a:lnSpc>
                <a:spcPts val="2150"/>
              </a:lnSpc>
              <a:buNone/>
            </a:pPr>
            <a:r>
              <a:rPr lang="en-US" sz="1700" b="1" dirty="0">
                <a:solidFill>
                  <a:srgbClr val="4A4A45"/>
                </a:solidFill>
                <a:latin typeface="Lato Bold" pitchFamily="34" charset="0"/>
                <a:ea typeface="Lato Bold" pitchFamily="34" charset="-122"/>
                <a:cs typeface="Lato Bold" pitchFamily="34" charset="-120"/>
              </a:rPr>
              <a:t>Hitung Jumlah Wisudawan</a:t>
            </a:r>
            <a:endParaRPr lang="en-US" sz="1700" dirty="0"/>
          </a:p>
        </p:txBody>
      </p:sp>
      <p:sp>
        <p:nvSpPr>
          <p:cNvPr id="11" name="Text 8"/>
          <p:cNvSpPr/>
          <p:nvPr/>
        </p:nvSpPr>
        <p:spPr>
          <a:xfrm>
            <a:off x="6188869" y="3879890"/>
            <a:ext cx="7739062" cy="561975"/>
          </a:xfrm>
          <a:prstGeom prst="rect">
            <a:avLst/>
          </a:prstGeom>
          <a:noFill/>
        </p:spPr>
        <p:txBody>
          <a:bodyPr wrap="square" lIns="0" tIns="0" rIns="0" bIns="0" rtlCol="0" anchor="t"/>
          <a:lstStyle/>
          <a:p>
            <a:pPr marL="0" indent="0" algn="l">
              <a:lnSpc>
                <a:spcPts val="2200"/>
              </a:lnSpc>
              <a:buNone/>
            </a:pPr>
            <a:r>
              <a:rPr lang="en-US" sz="1350" dirty="0">
                <a:solidFill>
                  <a:srgbClr val="4A4A45"/>
                </a:solidFill>
                <a:latin typeface="Lato" panose="020F0802020204030203" pitchFamily="34" charset="0"/>
                <a:ea typeface="Lato" panose="020F0802020204030203" pitchFamily="34" charset="-122"/>
                <a:cs typeface="Lato" panose="020F0802020204030203" pitchFamily="34" charset="-120"/>
              </a:rPr>
              <a:t>Gunakan fungsi pengelompokan (groupby) untuk mengetahui berapa banyak wisudawan tiap program studi.</a:t>
            </a:r>
            <a:endParaRPr lang="en-US" sz="1350" dirty="0"/>
          </a:p>
        </p:txBody>
      </p:sp>
      <p:sp>
        <p:nvSpPr>
          <p:cNvPr id="12" name="Text 9"/>
          <p:cNvSpPr/>
          <p:nvPr/>
        </p:nvSpPr>
        <p:spPr>
          <a:xfrm>
            <a:off x="6188869" y="4749165"/>
            <a:ext cx="175617" cy="219551"/>
          </a:xfrm>
          <a:prstGeom prst="rect">
            <a:avLst/>
          </a:prstGeom>
          <a:noFill/>
        </p:spPr>
        <p:txBody>
          <a:bodyPr wrap="none" lIns="0" tIns="0" rIns="0" bIns="0" rtlCol="0" anchor="t"/>
          <a:lstStyle/>
          <a:p>
            <a:pPr marL="0" indent="0" algn="l">
              <a:lnSpc>
                <a:spcPts val="2200"/>
              </a:lnSpc>
              <a:buNone/>
            </a:pPr>
            <a:r>
              <a:rPr lang="en-US" sz="1350" dirty="0">
                <a:solidFill>
                  <a:srgbClr val="4A4A45"/>
                </a:solidFill>
                <a:latin typeface="Lato Light" pitchFamily="34" charset="0"/>
                <a:ea typeface="Lato Light" pitchFamily="34" charset="-122"/>
                <a:cs typeface="Lato Light" pitchFamily="34" charset="-120"/>
              </a:rPr>
              <a:t>03</a:t>
            </a:r>
            <a:endParaRPr lang="en-US" sz="1350" dirty="0"/>
          </a:p>
        </p:txBody>
      </p:sp>
      <p:sp>
        <p:nvSpPr>
          <p:cNvPr id="13" name="Shape 10"/>
          <p:cNvSpPr/>
          <p:nvPr/>
        </p:nvSpPr>
        <p:spPr>
          <a:xfrm>
            <a:off x="6188869" y="5024795"/>
            <a:ext cx="7739062" cy="22860"/>
          </a:xfrm>
          <a:prstGeom prst="rect">
            <a:avLst/>
          </a:prstGeom>
          <a:solidFill>
            <a:srgbClr val="282824"/>
          </a:solidFill>
        </p:spPr>
        <p:txBody>
          <a:bodyPr/>
          <a:lstStyle/>
          <a:p>
            <a:endParaRPr lang="en-US"/>
          </a:p>
        </p:txBody>
      </p:sp>
      <p:sp>
        <p:nvSpPr>
          <p:cNvPr id="14" name="Text 11"/>
          <p:cNvSpPr/>
          <p:nvPr/>
        </p:nvSpPr>
        <p:spPr>
          <a:xfrm>
            <a:off x="6188869" y="5158264"/>
            <a:ext cx="2195513" cy="274439"/>
          </a:xfrm>
          <a:prstGeom prst="rect">
            <a:avLst/>
          </a:prstGeom>
          <a:noFill/>
        </p:spPr>
        <p:txBody>
          <a:bodyPr wrap="none" lIns="0" tIns="0" rIns="0" bIns="0" rtlCol="0" anchor="t"/>
          <a:lstStyle/>
          <a:p>
            <a:pPr marL="0" indent="0" algn="l">
              <a:lnSpc>
                <a:spcPts val="2150"/>
              </a:lnSpc>
              <a:buNone/>
            </a:pPr>
            <a:r>
              <a:rPr lang="en-US" sz="1700" b="1" dirty="0">
                <a:solidFill>
                  <a:srgbClr val="4A4A45"/>
                </a:solidFill>
                <a:latin typeface="Lato Bold" pitchFamily="34" charset="0"/>
                <a:ea typeface="Lato Bold" pitchFamily="34" charset="-122"/>
                <a:cs typeface="Lato Bold" pitchFamily="34" charset="-120"/>
              </a:rPr>
              <a:t>Klasifikasi Grade</a:t>
            </a:r>
            <a:endParaRPr lang="en-US" sz="1700" dirty="0"/>
          </a:p>
        </p:txBody>
      </p:sp>
      <p:sp>
        <p:nvSpPr>
          <p:cNvPr id="15" name="Text 12"/>
          <p:cNvSpPr/>
          <p:nvPr/>
        </p:nvSpPr>
        <p:spPr>
          <a:xfrm>
            <a:off x="6188869" y="5538073"/>
            <a:ext cx="7739062" cy="561975"/>
          </a:xfrm>
          <a:prstGeom prst="rect">
            <a:avLst/>
          </a:prstGeom>
          <a:noFill/>
        </p:spPr>
        <p:txBody>
          <a:bodyPr wrap="square" lIns="0" tIns="0" rIns="0" bIns="0" rtlCol="0" anchor="t"/>
          <a:lstStyle/>
          <a:p>
            <a:pPr marL="0" indent="0" algn="l">
              <a:lnSpc>
                <a:spcPts val="2200"/>
              </a:lnSpc>
              <a:buNone/>
            </a:pPr>
            <a:r>
              <a:rPr lang="en-US" sz="1350" dirty="0">
                <a:solidFill>
                  <a:srgbClr val="4A4A45"/>
                </a:solidFill>
                <a:latin typeface="Lato" panose="020F0802020204030203" pitchFamily="34" charset="0"/>
                <a:ea typeface="Lato" panose="020F0802020204030203" pitchFamily="34" charset="-122"/>
                <a:cs typeface="Lato" panose="020F0802020204030203" pitchFamily="34" charset="-120"/>
              </a:rPr>
              <a:t>Tentukan grade nilai akademik berdasarkan rentang IPK dari A hingga D sesuai standar yang ditetapkan.</a:t>
            </a:r>
            <a:endParaRPr lang="en-US" sz="1350" dirty="0"/>
          </a:p>
        </p:txBody>
      </p:sp>
      <p:sp>
        <p:nvSpPr>
          <p:cNvPr id="16" name="Text 13"/>
          <p:cNvSpPr/>
          <p:nvPr/>
        </p:nvSpPr>
        <p:spPr>
          <a:xfrm>
            <a:off x="6188869" y="6407348"/>
            <a:ext cx="175617" cy="219551"/>
          </a:xfrm>
          <a:prstGeom prst="rect">
            <a:avLst/>
          </a:prstGeom>
          <a:noFill/>
        </p:spPr>
        <p:txBody>
          <a:bodyPr wrap="none" lIns="0" tIns="0" rIns="0" bIns="0" rtlCol="0" anchor="t"/>
          <a:lstStyle/>
          <a:p>
            <a:pPr marL="0" indent="0" algn="l">
              <a:lnSpc>
                <a:spcPts val="2200"/>
              </a:lnSpc>
              <a:buNone/>
            </a:pPr>
            <a:r>
              <a:rPr lang="en-US" sz="1350" dirty="0">
                <a:solidFill>
                  <a:srgbClr val="4A4A45"/>
                </a:solidFill>
                <a:latin typeface="Lato Light" pitchFamily="34" charset="0"/>
                <a:ea typeface="Lato Light" pitchFamily="34" charset="-122"/>
                <a:cs typeface="Lato Light" pitchFamily="34" charset="-120"/>
              </a:rPr>
              <a:t>04</a:t>
            </a:r>
            <a:endParaRPr lang="en-US" sz="1350" dirty="0"/>
          </a:p>
        </p:txBody>
      </p:sp>
      <p:sp>
        <p:nvSpPr>
          <p:cNvPr id="17" name="Shape 14"/>
          <p:cNvSpPr/>
          <p:nvPr/>
        </p:nvSpPr>
        <p:spPr>
          <a:xfrm>
            <a:off x="6188869" y="6682978"/>
            <a:ext cx="7739062" cy="22860"/>
          </a:xfrm>
          <a:prstGeom prst="rect">
            <a:avLst/>
          </a:prstGeom>
          <a:solidFill>
            <a:srgbClr val="282824"/>
          </a:solidFill>
        </p:spPr>
        <p:txBody>
          <a:bodyPr/>
          <a:lstStyle/>
          <a:p>
            <a:endParaRPr lang="en-US"/>
          </a:p>
        </p:txBody>
      </p:sp>
      <p:sp>
        <p:nvSpPr>
          <p:cNvPr id="18" name="Text 15"/>
          <p:cNvSpPr/>
          <p:nvPr/>
        </p:nvSpPr>
        <p:spPr>
          <a:xfrm>
            <a:off x="6188869" y="6816447"/>
            <a:ext cx="2195513" cy="274439"/>
          </a:xfrm>
          <a:prstGeom prst="rect">
            <a:avLst/>
          </a:prstGeom>
          <a:noFill/>
        </p:spPr>
        <p:txBody>
          <a:bodyPr wrap="none" lIns="0" tIns="0" rIns="0" bIns="0" rtlCol="0" anchor="t"/>
          <a:lstStyle/>
          <a:p>
            <a:pPr marL="0" indent="0" algn="l">
              <a:lnSpc>
                <a:spcPts val="2150"/>
              </a:lnSpc>
              <a:buNone/>
            </a:pPr>
            <a:r>
              <a:rPr lang="en-US" sz="1700" b="1" dirty="0">
                <a:solidFill>
                  <a:srgbClr val="4A4A45"/>
                </a:solidFill>
                <a:latin typeface="Lato Bold" pitchFamily="34" charset="0"/>
                <a:ea typeface="Lato Bold" pitchFamily="34" charset="-122"/>
                <a:cs typeface="Lato Bold" pitchFamily="34" charset="-120"/>
              </a:rPr>
              <a:t>Tentukan Predikat</a:t>
            </a:r>
            <a:endParaRPr lang="en-US" sz="1700" dirty="0"/>
          </a:p>
        </p:txBody>
      </p:sp>
      <p:sp>
        <p:nvSpPr>
          <p:cNvPr id="19" name="Text 16"/>
          <p:cNvSpPr/>
          <p:nvPr/>
        </p:nvSpPr>
        <p:spPr>
          <a:xfrm>
            <a:off x="6188869" y="7196257"/>
            <a:ext cx="7739062" cy="280988"/>
          </a:xfrm>
          <a:prstGeom prst="rect">
            <a:avLst/>
          </a:prstGeom>
          <a:noFill/>
        </p:spPr>
        <p:txBody>
          <a:bodyPr wrap="none" lIns="0" tIns="0" rIns="0" bIns="0" rtlCol="0" anchor="t"/>
          <a:lstStyle/>
          <a:p>
            <a:pPr marL="0" indent="0" algn="l">
              <a:lnSpc>
                <a:spcPts val="2200"/>
              </a:lnSpc>
              <a:buNone/>
            </a:pPr>
            <a:r>
              <a:rPr lang="en-US" sz="1350" dirty="0">
                <a:solidFill>
                  <a:srgbClr val="4A4A45"/>
                </a:solidFill>
                <a:latin typeface="Lato" panose="020F0802020204030203" pitchFamily="34" charset="0"/>
                <a:ea typeface="Lato" panose="020F0802020204030203" pitchFamily="34" charset="-122"/>
                <a:cs typeface="Lato" panose="020F0802020204030203" pitchFamily="34" charset="-120"/>
              </a:rPr>
              <a:t>Klasifikasikan predikat wisuda berdasarkan kombinasi IPK dan lama studi untuk setiap mahasiswa.</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456849"/>
            <a:ext cx="7231380" cy="620078"/>
          </a:xfrm>
          <a:prstGeom prst="rect">
            <a:avLst/>
          </a:prstGeom>
          <a:noFill/>
        </p:spPr>
        <p:txBody>
          <a:bodyPr wrap="none" lIns="0" tIns="0" rIns="0" bIns="0" rtlCol="0" anchor="t"/>
          <a:lstStyle/>
          <a:p>
            <a:pPr marL="0" indent="0" algn="l">
              <a:lnSpc>
                <a:spcPts val="4850"/>
              </a:lnSpc>
              <a:buNone/>
            </a:pPr>
            <a:r>
              <a:rPr lang="en-US" sz="3900" b="1" dirty="0">
                <a:solidFill>
                  <a:srgbClr val="282824"/>
                </a:solidFill>
                <a:latin typeface="Lato Bold" pitchFamily="34" charset="0"/>
                <a:ea typeface="Lato Bold" pitchFamily="34" charset="-122"/>
                <a:cs typeface="Lato Bold" pitchFamily="34" charset="-120"/>
              </a:rPr>
              <a:t>Klasifikasi Grade Nilai Akademik</a:t>
            </a:r>
            <a:endParaRPr lang="en-US" sz="3900" dirty="0"/>
          </a:p>
        </p:txBody>
      </p:sp>
      <p:sp>
        <p:nvSpPr>
          <p:cNvPr id="3" name="Text 1"/>
          <p:cNvSpPr/>
          <p:nvPr/>
        </p:nvSpPr>
        <p:spPr>
          <a:xfrm>
            <a:off x="793790" y="2473762"/>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Sistem klasifikasi grade didasarkan pada rentang Indeks Prestasi Kumulatif (IPK) mahasiswa. Setiap rentang IPK diberikan grade dari A hingga D yang merepresentasikan tingkat prestasi akademik.</a:t>
            </a:r>
            <a:endParaRPr lang="en-US" sz="1550" dirty="0"/>
          </a:p>
        </p:txBody>
      </p:sp>
      <p:sp>
        <p:nvSpPr>
          <p:cNvPr id="4" name="Shape 2"/>
          <p:cNvSpPr/>
          <p:nvPr/>
        </p:nvSpPr>
        <p:spPr>
          <a:xfrm>
            <a:off x="793790" y="3332083"/>
            <a:ext cx="13042821" cy="3440668"/>
          </a:xfrm>
          <a:prstGeom prst="roundRect">
            <a:avLst>
              <a:gd name="adj" fmla="val 865"/>
            </a:avLst>
          </a:prstGeom>
          <a:noFill/>
          <a:ln w="7620">
            <a:solidFill>
              <a:srgbClr val="000000">
                <a:alpha val="8000"/>
              </a:srgbClr>
            </a:solidFill>
            <a:prstDash val="solid"/>
          </a:ln>
        </p:spPr>
        <p:txBody>
          <a:bodyPr/>
          <a:lstStyle/>
          <a:p>
            <a:endParaRPr lang="en-US"/>
          </a:p>
        </p:txBody>
      </p:sp>
      <p:sp>
        <p:nvSpPr>
          <p:cNvPr id="5" name="Shape 3"/>
          <p:cNvSpPr/>
          <p:nvPr/>
        </p:nvSpPr>
        <p:spPr>
          <a:xfrm>
            <a:off x="801410" y="3339703"/>
            <a:ext cx="13027581" cy="570905"/>
          </a:xfrm>
          <a:prstGeom prst="rect">
            <a:avLst/>
          </a:prstGeom>
          <a:solidFill>
            <a:srgbClr val="FFFFFF">
              <a:alpha val="4000"/>
            </a:srgbClr>
          </a:solidFill>
        </p:spPr>
        <p:txBody>
          <a:bodyPr/>
          <a:lstStyle/>
          <a:p>
            <a:endParaRPr lang="en-US"/>
          </a:p>
        </p:txBody>
      </p:sp>
      <p:sp>
        <p:nvSpPr>
          <p:cNvPr id="6" name="Text 4"/>
          <p:cNvSpPr/>
          <p:nvPr/>
        </p:nvSpPr>
        <p:spPr>
          <a:xfrm>
            <a:off x="999768" y="3466386"/>
            <a:ext cx="6113264"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Rentang IPK</a:t>
            </a:r>
            <a:endParaRPr lang="en-US" sz="1550" dirty="0"/>
          </a:p>
        </p:txBody>
      </p:sp>
      <p:sp>
        <p:nvSpPr>
          <p:cNvPr id="7" name="Text 5"/>
          <p:cNvSpPr/>
          <p:nvPr/>
        </p:nvSpPr>
        <p:spPr>
          <a:xfrm>
            <a:off x="7517368" y="3466386"/>
            <a:ext cx="6113264"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Grade</a:t>
            </a:r>
            <a:endParaRPr lang="en-US" sz="1550" dirty="0"/>
          </a:p>
        </p:txBody>
      </p:sp>
      <p:sp>
        <p:nvSpPr>
          <p:cNvPr id="8" name="Shape 6"/>
          <p:cNvSpPr/>
          <p:nvPr/>
        </p:nvSpPr>
        <p:spPr>
          <a:xfrm>
            <a:off x="801410" y="3910608"/>
            <a:ext cx="13027581" cy="570905"/>
          </a:xfrm>
          <a:prstGeom prst="rect">
            <a:avLst/>
          </a:prstGeom>
          <a:solidFill>
            <a:srgbClr val="000000">
              <a:alpha val="4000"/>
            </a:srgbClr>
          </a:solidFill>
        </p:spPr>
        <p:txBody>
          <a:bodyPr/>
          <a:lstStyle/>
          <a:p>
            <a:endParaRPr lang="en-US"/>
          </a:p>
        </p:txBody>
      </p:sp>
      <p:sp>
        <p:nvSpPr>
          <p:cNvPr id="9" name="Text 7"/>
          <p:cNvSpPr/>
          <p:nvPr/>
        </p:nvSpPr>
        <p:spPr>
          <a:xfrm>
            <a:off x="999768" y="4037290"/>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3.75 – 4.00</a:t>
            </a:r>
            <a:endParaRPr lang="en-US" sz="1550" dirty="0"/>
          </a:p>
        </p:txBody>
      </p:sp>
      <p:sp>
        <p:nvSpPr>
          <p:cNvPr id="10" name="Text 8"/>
          <p:cNvSpPr/>
          <p:nvPr/>
        </p:nvSpPr>
        <p:spPr>
          <a:xfrm>
            <a:off x="7517368" y="4037290"/>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A</a:t>
            </a:r>
            <a:endParaRPr lang="en-US" sz="1550" dirty="0"/>
          </a:p>
        </p:txBody>
      </p:sp>
      <p:sp>
        <p:nvSpPr>
          <p:cNvPr id="11" name="Shape 9"/>
          <p:cNvSpPr/>
          <p:nvPr/>
        </p:nvSpPr>
        <p:spPr>
          <a:xfrm>
            <a:off x="801410" y="4481513"/>
            <a:ext cx="13027581" cy="570905"/>
          </a:xfrm>
          <a:prstGeom prst="rect">
            <a:avLst/>
          </a:prstGeom>
          <a:solidFill>
            <a:srgbClr val="FFFFFF">
              <a:alpha val="4000"/>
            </a:srgbClr>
          </a:solidFill>
        </p:spPr>
        <p:txBody>
          <a:bodyPr/>
          <a:lstStyle/>
          <a:p>
            <a:endParaRPr lang="en-US"/>
          </a:p>
        </p:txBody>
      </p:sp>
      <p:sp>
        <p:nvSpPr>
          <p:cNvPr id="12" name="Text 10"/>
          <p:cNvSpPr/>
          <p:nvPr/>
        </p:nvSpPr>
        <p:spPr>
          <a:xfrm>
            <a:off x="999768" y="4608195"/>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3.50 – 3.74</a:t>
            </a:r>
            <a:endParaRPr lang="en-US" sz="1550" dirty="0"/>
          </a:p>
        </p:txBody>
      </p:sp>
      <p:sp>
        <p:nvSpPr>
          <p:cNvPr id="13" name="Text 11"/>
          <p:cNvSpPr/>
          <p:nvPr/>
        </p:nvSpPr>
        <p:spPr>
          <a:xfrm>
            <a:off x="7517368" y="4608195"/>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B+</a:t>
            </a:r>
            <a:endParaRPr lang="en-US" sz="1550" dirty="0"/>
          </a:p>
        </p:txBody>
      </p:sp>
      <p:sp>
        <p:nvSpPr>
          <p:cNvPr id="14" name="Shape 12"/>
          <p:cNvSpPr/>
          <p:nvPr/>
        </p:nvSpPr>
        <p:spPr>
          <a:xfrm>
            <a:off x="801410" y="5052417"/>
            <a:ext cx="13027581" cy="570905"/>
          </a:xfrm>
          <a:prstGeom prst="rect">
            <a:avLst/>
          </a:prstGeom>
          <a:solidFill>
            <a:srgbClr val="000000">
              <a:alpha val="4000"/>
            </a:srgbClr>
          </a:solidFill>
        </p:spPr>
        <p:txBody>
          <a:bodyPr/>
          <a:lstStyle/>
          <a:p>
            <a:endParaRPr lang="en-US"/>
          </a:p>
        </p:txBody>
      </p:sp>
      <p:sp>
        <p:nvSpPr>
          <p:cNvPr id="15" name="Text 13"/>
          <p:cNvSpPr/>
          <p:nvPr/>
        </p:nvSpPr>
        <p:spPr>
          <a:xfrm>
            <a:off x="999768" y="5179100"/>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3.00 – 3.49</a:t>
            </a:r>
            <a:endParaRPr lang="en-US" sz="1550" dirty="0"/>
          </a:p>
        </p:txBody>
      </p:sp>
      <p:sp>
        <p:nvSpPr>
          <p:cNvPr id="16" name="Text 14"/>
          <p:cNvSpPr/>
          <p:nvPr/>
        </p:nvSpPr>
        <p:spPr>
          <a:xfrm>
            <a:off x="7517368" y="5179100"/>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B</a:t>
            </a:r>
            <a:endParaRPr lang="en-US" sz="1550" dirty="0"/>
          </a:p>
        </p:txBody>
      </p:sp>
      <p:sp>
        <p:nvSpPr>
          <p:cNvPr id="17" name="Shape 15"/>
          <p:cNvSpPr/>
          <p:nvPr/>
        </p:nvSpPr>
        <p:spPr>
          <a:xfrm>
            <a:off x="801410" y="5623322"/>
            <a:ext cx="13027581" cy="570905"/>
          </a:xfrm>
          <a:prstGeom prst="rect">
            <a:avLst/>
          </a:prstGeom>
          <a:solidFill>
            <a:srgbClr val="FFFFFF">
              <a:alpha val="4000"/>
            </a:srgbClr>
          </a:solidFill>
        </p:spPr>
        <p:txBody>
          <a:bodyPr/>
          <a:lstStyle/>
          <a:p>
            <a:endParaRPr lang="en-US"/>
          </a:p>
        </p:txBody>
      </p:sp>
      <p:sp>
        <p:nvSpPr>
          <p:cNvPr id="18" name="Text 16"/>
          <p:cNvSpPr/>
          <p:nvPr/>
        </p:nvSpPr>
        <p:spPr>
          <a:xfrm>
            <a:off x="999768" y="5750004"/>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2.50 – 2.99</a:t>
            </a:r>
            <a:endParaRPr lang="en-US" sz="1550" dirty="0"/>
          </a:p>
        </p:txBody>
      </p:sp>
      <p:sp>
        <p:nvSpPr>
          <p:cNvPr id="19" name="Text 17"/>
          <p:cNvSpPr/>
          <p:nvPr/>
        </p:nvSpPr>
        <p:spPr>
          <a:xfrm>
            <a:off x="7517368" y="5750004"/>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C</a:t>
            </a:r>
            <a:endParaRPr lang="en-US" sz="1550" dirty="0"/>
          </a:p>
        </p:txBody>
      </p:sp>
      <p:sp>
        <p:nvSpPr>
          <p:cNvPr id="20" name="Shape 18"/>
          <p:cNvSpPr/>
          <p:nvPr/>
        </p:nvSpPr>
        <p:spPr>
          <a:xfrm>
            <a:off x="801410" y="6194227"/>
            <a:ext cx="13027581" cy="570905"/>
          </a:xfrm>
          <a:prstGeom prst="rect">
            <a:avLst/>
          </a:prstGeom>
          <a:solidFill>
            <a:srgbClr val="000000">
              <a:alpha val="4000"/>
            </a:srgbClr>
          </a:solidFill>
        </p:spPr>
        <p:txBody>
          <a:bodyPr/>
          <a:lstStyle/>
          <a:p>
            <a:endParaRPr lang="en-US"/>
          </a:p>
        </p:txBody>
      </p:sp>
      <p:sp>
        <p:nvSpPr>
          <p:cNvPr id="21" name="Text 19"/>
          <p:cNvSpPr/>
          <p:nvPr/>
        </p:nvSpPr>
        <p:spPr>
          <a:xfrm>
            <a:off x="999768" y="6320909"/>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&lt; 2.50</a:t>
            </a:r>
            <a:endParaRPr lang="en-US" sz="1550" dirty="0"/>
          </a:p>
        </p:txBody>
      </p:sp>
      <p:sp>
        <p:nvSpPr>
          <p:cNvPr id="22" name="Text 20"/>
          <p:cNvSpPr/>
          <p:nvPr/>
        </p:nvSpPr>
        <p:spPr>
          <a:xfrm>
            <a:off x="7517368" y="6320909"/>
            <a:ext cx="611326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D</a:t>
            </a:r>
            <a:endParaRPr lang="en-US" sz="15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1742242"/>
            <a:ext cx="6589157" cy="620078"/>
          </a:xfrm>
          <a:prstGeom prst="rect">
            <a:avLst/>
          </a:prstGeom>
          <a:noFill/>
        </p:spPr>
        <p:txBody>
          <a:bodyPr wrap="none" lIns="0" tIns="0" rIns="0" bIns="0" rtlCol="0" anchor="t"/>
          <a:lstStyle/>
          <a:p>
            <a:pPr marL="0" indent="0" algn="l">
              <a:lnSpc>
                <a:spcPts val="4850"/>
              </a:lnSpc>
              <a:buNone/>
            </a:pPr>
            <a:r>
              <a:rPr lang="en-US" sz="3900" b="1" dirty="0">
                <a:solidFill>
                  <a:srgbClr val="282824"/>
                </a:solidFill>
                <a:latin typeface="Lato Bold" pitchFamily="34" charset="0"/>
                <a:ea typeface="Lato Bold" pitchFamily="34" charset="-122"/>
                <a:cs typeface="Lato Bold" pitchFamily="34" charset="-120"/>
              </a:rPr>
              <a:t>Klasifikasi Predikat Kelulusan</a:t>
            </a:r>
            <a:endParaRPr lang="en-US" sz="3900" dirty="0"/>
          </a:p>
        </p:txBody>
      </p:sp>
      <p:sp>
        <p:nvSpPr>
          <p:cNvPr id="3" name="Text 1"/>
          <p:cNvSpPr/>
          <p:nvPr/>
        </p:nvSpPr>
        <p:spPr>
          <a:xfrm>
            <a:off x="793790" y="2759154"/>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Predikat wisuda ditentukan berdasarkan kombinasi IPK dan lama studi. Kriteria ini memastikan pengakuan terhadap prestasi akademik dan efisiensi waktu studi mahasiswa dalam menyelesaikan program.</a:t>
            </a:r>
            <a:endParaRPr lang="en-US" sz="1550" dirty="0"/>
          </a:p>
        </p:txBody>
      </p:sp>
      <p:sp>
        <p:nvSpPr>
          <p:cNvPr id="4" name="Shape 2"/>
          <p:cNvSpPr/>
          <p:nvPr/>
        </p:nvSpPr>
        <p:spPr>
          <a:xfrm>
            <a:off x="793790" y="3617476"/>
            <a:ext cx="13042821" cy="2869763"/>
          </a:xfrm>
          <a:prstGeom prst="roundRect">
            <a:avLst>
              <a:gd name="adj" fmla="val 1037"/>
            </a:avLst>
          </a:prstGeom>
          <a:noFill/>
          <a:ln w="7620">
            <a:solidFill>
              <a:srgbClr val="000000">
                <a:alpha val="8000"/>
              </a:srgbClr>
            </a:solidFill>
            <a:prstDash val="solid"/>
          </a:ln>
        </p:spPr>
        <p:txBody>
          <a:bodyPr/>
          <a:lstStyle/>
          <a:p>
            <a:endParaRPr lang="en-US"/>
          </a:p>
        </p:txBody>
      </p:sp>
      <p:sp>
        <p:nvSpPr>
          <p:cNvPr id="5" name="Shape 3"/>
          <p:cNvSpPr/>
          <p:nvPr/>
        </p:nvSpPr>
        <p:spPr>
          <a:xfrm>
            <a:off x="801410" y="3625096"/>
            <a:ext cx="13027581" cy="570905"/>
          </a:xfrm>
          <a:prstGeom prst="rect">
            <a:avLst/>
          </a:prstGeom>
          <a:solidFill>
            <a:srgbClr val="FFFFFF">
              <a:alpha val="4000"/>
            </a:srgbClr>
          </a:solidFill>
        </p:spPr>
        <p:txBody>
          <a:bodyPr/>
          <a:lstStyle/>
          <a:p>
            <a:endParaRPr lang="en-US"/>
          </a:p>
        </p:txBody>
      </p:sp>
      <p:sp>
        <p:nvSpPr>
          <p:cNvPr id="6" name="Text 4"/>
          <p:cNvSpPr/>
          <p:nvPr/>
        </p:nvSpPr>
        <p:spPr>
          <a:xfrm>
            <a:off x="999887" y="3751778"/>
            <a:ext cx="7415927"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Kriteria</a:t>
            </a:r>
            <a:endParaRPr lang="en-US" sz="1550" dirty="0"/>
          </a:p>
        </p:txBody>
      </p:sp>
      <p:sp>
        <p:nvSpPr>
          <p:cNvPr id="7" name="Text 5"/>
          <p:cNvSpPr/>
          <p:nvPr/>
        </p:nvSpPr>
        <p:spPr>
          <a:xfrm>
            <a:off x="8820150" y="3751778"/>
            <a:ext cx="4810482"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Predikat</a:t>
            </a:r>
            <a:endParaRPr lang="en-US" sz="1550" dirty="0"/>
          </a:p>
        </p:txBody>
      </p:sp>
      <p:sp>
        <p:nvSpPr>
          <p:cNvPr id="8" name="Shape 6"/>
          <p:cNvSpPr/>
          <p:nvPr/>
        </p:nvSpPr>
        <p:spPr>
          <a:xfrm>
            <a:off x="801410" y="4196001"/>
            <a:ext cx="13027581" cy="570905"/>
          </a:xfrm>
          <a:prstGeom prst="rect">
            <a:avLst/>
          </a:prstGeom>
          <a:solidFill>
            <a:srgbClr val="000000">
              <a:alpha val="4000"/>
            </a:srgbClr>
          </a:solidFill>
        </p:spPr>
        <p:txBody>
          <a:bodyPr/>
          <a:lstStyle/>
          <a:p>
            <a:endParaRPr lang="en-US"/>
          </a:p>
        </p:txBody>
      </p:sp>
      <p:sp>
        <p:nvSpPr>
          <p:cNvPr id="9" name="Text 7"/>
          <p:cNvSpPr/>
          <p:nvPr/>
        </p:nvSpPr>
        <p:spPr>
          <a:xfrm>
            <a:off x="999887" y="4322683"/>
            <a:ext cx="74159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IPK ≥ 3.75 dan Lama Studi ≤ 8 semester</a:t>
            </a:r>
            <a:endParaRPr lang="en-US" sz="1550" dirty="0"/>
          </a:p>
        </p:txBody>
      </p:sp>
      <p:sp>
        <p:nvSpPr>
          <p:cNvPr id="10" name="Text 8"/>
          <p:cNvSpPr/>
          <p:nvPr/>
        </p:nvSpPr>
        <p:spPr>
          <a:xfrm>
            <a:off x="8820150" y="4322683"/>
            <a:ext cx="4810482"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Cumlaude</a:t>
            </a:r>
            <a:endParaRPr lang="en-US" sz="1550" dirty="0"/>
          </a:p>
        </p:txBody>
      </p:sp>
      <p:sp>
        <p:nvSpPr>
          <p:cNvPr id="11" name="Shape 9"/>
          <p:cNvSpPr/>
          <p:nvPr/>
        </p:nvSpPr>
        <p:spPr>
          <a:xfrm>
            <a:off x="801410" y="4766905"/>
            <a:ext cx="13027581" cy="570905"/>
          </a:xfrm>
          <a:prstGeom prst="rect">
            <a:avLst/>
          </a:prstGeom>
          <a:solidFill>
            <a:srgbClr val="FFFFFF">
              <a:alpha val="4000"/>
            </a:srgbClr>
          </a:solidFill>
        </p:spPr>
        <p:txBody>
          <a:bodyPr/>
          <a:lstStyle/>
          <a:p>
            <a:endParaRPr lang="en-US"/>
          </a:p>
        </p:txBody>
      </p:sp>
      <p:sp>
        <p:nvSpPr>
          <p:cNvPr id="12" name="Text 10"/>
          <p:cNvSpPr/>
          <p:nvPr/>
        </p:nvSpPr>
        <p:spPr>
          <a:xfrm>
            <a:off x="999887" y="4893588"/>
            <a:ext cx="74159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IPK ≥ 3.50 dan Lama Studi ≤ 9 semester</a:t>
            </a:r>
            <a:endParaRPr lang="en-US" sz="1550" dirty="0"/>
          </a:p>
        </p:txBody>
      </p:sp>
      <p:sp>
        <p:nvSpPr>
          <p:cNvPr id="13" name="Text 11"/>
          <p:cNvSpPr/>
          <p:nvPr/>
        </p:nvSpPr>
        <p:spPr>
          <a:xfrm>
            <a:off x="8820150" y="4893588"/>
            <a:ext cx="4810482"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Sangat Memuaskan</a:t>
            </a:r>
            <a:endParaRPr lang="en-US" sz="1550" dirty="0"/>
          </a:p>
        </p:txBody>
      </p:sp>
      <p:sp>
        <p:nvSpPr>
          <p:cNvPr id="14" name="Shape 12"/>
          <p:cNvSpPr/>
          <p:nvPr/>
        </p:nvSpPr>
        <p:spPr>
          <a:xfrm>
            <a:off x="801410" y="5337810"/>
            <a:ext cx="13027581" cy="570905"/>
          </a:xfrm>
          <a:prstGeom prst="rect">
            <a:avLst/>
          </a:prstGeom>
          <a:solidFill>
            <a:srgbClr val="000000">
              <a:alpha val="4000"/>
            </a:srgbClr>
          </a:solidFill>
        </p:spPr>
        <p:txBody>
          <a:bodyPr/>
          <a:lstStyle/>
          <a:p>
            <a:endParaRPr lang="en-US"/>
          </a:p>
        </p:txBody>
      </p:sp>
      <p:sp>
        <p:nvSpPr>
          <p:cNvPr id="15" name="Text 13"/>
          <p:cNvSpPr/>
          <p:nvPr/>
        </p:nvSpPr>
        <p:spPr>
          <a:xfrm>
            <a:off x="999887" y="5464493"/>
            <a:ext cx="74159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IPK ≥ 3.00</a:t>
            </a:r>
            <a:endParaRPr lang="en-US" sz="1550" dirty="0"/>
          </a:p>
        </p:txBody>
      </p:sp>
      <p:sp>
        <p:nvSpPr>
          <p:cNvPr id="16" name="Text 14"/>
          <p:cNvSpPr/>
          <p:nvPr/>
        </p:nvSpPr>
        <p:spPr>
          <a:xfrm>
            <a:off x="8820150" y="5464493"/>
            <a:ext cx="4810482"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Memuaskan</a:t>
            </a:r>
            <a:endParaRPr lang="en-US" sz="1550" dirty="0"/>
          </a:p>
        </p:txBody>
      </p:sp>
      <p:sp>
        <p:nvSpPr>
          <p:cNvPr id="17" name="Shape 15"/>
          <p:cNvSpPr/>
          <p:nvPr/>
        </p:nvSpPr>
        <p:spPr>
          <a:xfrm>
            <a:off x="801410" y="5908715"/>
            <a:ext cx="13027581" cy="570905"/>
          </a:xfrm>
          <a:prstGeom prst="rect">
            <a:avLst/>
          </a:prstGeom>
          <a:solidFill>
            <a:srgbClr val="FFFFFF">
              <a:alpha val="4000"/>
            </a:srgbClr>
          </a:solidFill>
        </p:spPr>
        <p:txBody>
          <a:bodyPr/>
          <a:lstStyle/>
          <a:p>
            <a:endParaRPr lang="en-US"/>
          </a:p>
        </p:txBody>
      </p:sp>
      <p:sp>
        <p:nvSpPr>
          <p:cNvPr id="18" name="Text 16"/>
          <p:cNvSpPr/>
          <p:nvPr/>
        </p:nvSpPr>
        <p:spPr>
          <a:xfrm>
            <a:off x="999887" y="6035397"/>
            <a:ext cx="74159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IPK &lt; 3.00</a:t>
            </a:r>
            <a:endParaRPr lang="en-US" sz="1550" dirty="0"/>
          </a:p>
        </p:txBody>
      </p:sp>
      <p:sp>
        <p:nvSpPr>
          <p:cNvPr id="19" name="Text 17"/>
          <p:cNvSpPr/>
          <p:nvPr/>
        </p:nvSpPr>
        <p:spPr>
          <a:xfrm>
            <a:off x="8820150" y="6035397"/>
            <a:ext cx="4810482"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Cukup</a:t>
            </a:r>
            <a:endParaRPr lang="en-US" sz="15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248007" y="822127"/>
            <a:ext cx="4990267" cy="6585228"/>
          </a:xfrm>
          <a:prstGeom prst="rect">
            <a:avLst/>
          </a:prstGeom>
        </p:spPr>
      </p:pic>
      <p:sp>
        <p:nvSpPr>
          <p:cNvPr id="4" name="Text 0"/>
          <p:cNvSpPr/>
          <p:nvPr/>
        </p:nvSpPr>
        <p:spPr>
          <a:xfrm>
            <a:off x="6280190" y="714137"/>
            <a:ext cx="6267212" cy="620078"/>
          </a:xfrm>
          <a:prstGeom prst="rect">
            <a:avLst/>
          </a:prstGeom>
          <a:noFill/>
        </p:spPr>
        <p:txBody>
          <a:bodyPr wrap="none" lIns="0" tIns="0" rIns="0" bIns="0" rtlCol="0" anchor="t"/>
          <a:lstStyle/>
          <a:p>
            <a:pPr marL="0" indent="0" algn="l">
              <a:lnSpc>
                <a:spcPts val="4850"/>
              </a:lnSpc>
              <a:buNone/>
            </a:pPr>
            <a:r>
              <a:rPr lang="en-US" sz="3900" b="1" dirty="0">
                <a:solidFill>
                  <a:srgbClr val="282824"/>
                </a:solidFill>
                <a:latin typeface="Lato Bold" pitchFamily="34" charset="0"/>
                <a:ea typeface="Lato Bold" pitchFamily="34" charset="-122"/>
                <a:cs typeface="Lato Bold" pitchFamily="34" charset="-120"/>
              </a:rPr>
              <a:t>Analisis dan Visualisasi Data</a:t>
            </a:r>
            <a:endParaRPr lang="en-US" sz="3900" dirty="0"/>
          </a:p>
        </p:txBody>
      </p:sp>
      <p:sp>
        <p:nvSpPr>
          <p:cNvPr id="5" name="Text 1"/>
          <p:cNvSpPr/>
          <p:nvPr/>
        </p:nvSpPr>
        <p:spPr>
          <a:xfrm>
            <a:off x="6280190" y="1631871"/>
            <a:ext cx="7556421" cy="1270159"/>
          </a:xfrm>
          <a:prstGeom prst="rect">
            <a:avLst/>
          </a:prstGeom>
          <a:noFill/>
        </p:spPr>
        <p:txBody>
          <a:bodyPr wrap="squar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Hasil analisis divisualisasikan menggunakan matplotlib untuk memberikan pemahaman yang jelas tentang distribusi wisudawan dan predikat kelulusan. Visualisasi mencakup grafik batang jumlah wisudawan per program studi, pie chart distribusi predikat, dan perbandingan rata-rata IPK antar prodi.</a:t>
            </a:r>
            <a:endParaRPr lang="en-US" sz="1550" dirty="0"/>
          </a:p>
        </p:txBody>
      </p:sp>
      <p:sp>
        <p:nvSpPr>
          <p:cNvPr id="6" name="Shape 2"/>
          <p:cNvSpPr/>
          <p:nvPr/>
        </p:nvSpPr>
        <p:spPr>
          <a:xfrm>
            <a:off x="6280190" y="3125272"/>
            <a:ext cx="3679031" cy="2254687"/>
          </a:xfrm>
          <a:prstGeom prst="roundRect">
            <a:avLst>
              <a:gd name="adj" fmla="val 1320"/>
            </a:avLst>
          </a:prstGeom>
          <a:solidFill>
            <a:srgbClr val="E5DFD2"/>
          </a:solidFill>
        </p:spPr>
        <p:txBody>
          <a:bodyPr/>
          <a:lstStyle/>
          <a:p>
            <a:endParaRPr lang="en-US"/>
          </a:p>
        </p:txBody>
      </p:sp>
      <p:sp>
        <p:nvSpPr>
          <p:cNvPr id="7" name="Shape 3"/>
          <p:cNvSpPr/>
          <p:nvPr/>
        </p:nvSpPr>
        <p:spPr>
          <a:xfrm>
            <a:off x="6478548" y="3323630"/>
            <a:ext cx="595313" cy="595313"/>
          </a:xfrm>
          <a:prstGeom prst="roundRect">
            <a:avLst>
              <a:gd name="adj" fmla="val 15358451"/>
            </a:avLst>
          </a:prstGeom>
          <a:solidFill>
            <a:srgbClr val="282824"/>
          </a:solidFill>
        </p:spPr>
        <p:txBody>
          <a:bodyPr/>
          <a:lstStyle/>
          <a:p>
            <a:endParaRPr lang="en-US"/>
          </a:p>
        </p:txBody>
      </p:sp>
      <p:pic>
        <p:nvPicPr>
          <p:cNvPr id="8" name="Image 2"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42259" y="3487222"/>
            <a:ext cx="267891" cy="267891"/>
          </a:xfrm>
          <a:prstGeom prst="rect">
            <a:avLst/>
          </a:prstGeom>
        </p:spPr>
      </p:pic>
      <p:sp>
        <p:nvSpPr>
          <p:cNvPr id="9" name="Text 4"/>
          <p:cNvSpPr/>
          <p:nvPr/>
        </p:nvSpPr>
        <p:spPr>
          <a:xfrm>
            <a:off x="6478548" y="4117300"/>
            <a:ext cx="2480905" cy="310158"/>
          </a:xfrm>
          <a:prstGeom prst="rect">
            <a:avLst/>
          </a:prstGeom>
          <a:noFill/>
        </p:spPr>
        <p:txBody>
          <a:bodyPr wrap="none" lIns="0" tIns="0" rIns="0" bIns="0" rtlCol="0" anchor="t"/>
          <a:lstStyle/>
          <a:p>
            <a:pPr marL="0" indent="0" algn="l">
              <a:lnSpc>
                <a:spcPts val="2400"/>
              </a:lnSpc>
              <a:buNone/>
            </a:pPr>
            <a:r>
              <a:rPr lang="en-US" sz="1950" b="1" dirty="0">
                <a:solidFill>
                  <a:srgbClr val="4A4A45"/>
                </a:solidFill>
                <a:latin typeface="Lato Bold" pitchFamily="34" charset="0"/>
                <a:ea typeface="Lato Bold" pitchFamily="34" charset="-122"/>
                <a:cs typeface="Lato Bold" pitchFamily="34" charset="-120"/>
              </a:rPr>
              <a:t>Grafik Batang</a:t>
            </a:r>
            <a:endParaRPr lang="en-US" sz="1950" dirty="0"/>
          </a:p>
        </p:txBody>
      </p:sp>
      <p:sp>
        <p:nvSpPr>
          <p:cNvPr id="10" name="Text 5"/>
          <p:cNvSpPr/>
          <p:nvPr/>
        </p:nvSpPr>
        <p:spPr>
          <a:xfrm>
            <a:off x="6478548" y="4546521"/>
            <a:ext cx="3282315"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Jumlah wisudawan per program studi</a:t>
            </a:r>
            <a:endParaRPr lang="en-US" sz="1550" dirty="0"/>
          </a:p>
        </p:txBody>
      </p:sp>
      <p:sp>
        <p:nvSpPr>
          <p:cNvPr id="11" name="Shape 6"/>
          <p:cNvSpPr/>
          <p:nvPr/>
        </p:nvSpPr>
        <p:spPr>
          <a:xfrm>
            <a:off x="10157579" y="3125272"/>
            <a:ext cx="3679031" cy="2254687"/>
          </a:xfrm>
          <a:prstGeom prst="roundRect">
            <a:avLst>
              <a:gd name="adj" fmla="val 1320"/>
            </a:avLst>
          </a:prstGeom>
          <a:solidFill>
            <a:srgbClr val="E5DFD2"/>
          </a:solidFill>
        </p:spPr>
        <p:txBody>
          <a:bodyPr/>
          <a:lstStyle/>
          <a:p>
            <a:endParaRPr lang="en-US"/>
          </a:p>
        </p:txBody>
      </p:sp>
      <p:sp>
        <p:nvSpPr>
          <p:cNvPr id="12" name="Shape 7"/>
          <p:cNvSpPr/>
          <p:nvPr/>
        </p:nvSpPr>
        <p:spPr>
          <a:xfrm>
            <a:off x="10355937" y="3323630"/>
            <a:ext cx="595313" cy="595313"/>
          </a:xfrm>
          <a:prstGeom prst="roundRect">
            <a:avLst>
              <a:gd name="adj" fmla="val 15358451"/>
            </a:avLst>
          </a:prstGeom>
          <a:solidFill>
            <a:srgbClr val="282824"/>
          </a:solidFill>
        </p:spPr>
        <p:txBody>
          <a:bodyPr/>
          <a:lstStyle/>
          <a:p>
            <a:endParaRPr lang="en-US"/>
          </a:p>
        </p:txBody>
      </p:sp>
      <p:pic>
        <p:nvPicPr>
          <p:cNvPr id="13" name="Image 3"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519648" y="3487222"/>
            <a:ext cx="267891" cy="267891"/>
          </a:xfrm>
          <a:prstGeom prst="rect">
            <a:avLst/>
          </a:prstGeom>
        </p:spPr>
      </p:pic>
      <p:sp>
        <p:nvSpPr>
          <p:cNvPr id="14" name="Text 8"/>
          <p:cNvSpPr/>
          <p:nvPr/>
        </p:nvSpPr>
        <p:spPr>
          <a:xfrm>
            <a:off x="10355937" y="4117300"/>
            <a:ext cx="2480905" cy="310158"/>
          </a:xfrm>
          <a:prstGeom prst="rect">
            <a:avLst/>
          </a:prstGeom>
          <a:noFill/>
        </p:spPr>
        <p:txBody>
          <a:bodyPr wrap="none" lIns="0" tIns="0" rIns="0" bIns="0" rtlCol="0" anchor="t"/>
          <a:lstStyle/>
          <a:p>
            <a:pPr marL="0" indent="0" algn="l">
              <a:lnSpc>
                <a:spcPts val="2400"/>
              </a:lnSpc>
              <a:buNone/>
            </a:pPr>
            <a:r>
              <a:rPr lang="en-US" sz="1950" b="1" dirty="0">
                <a:solidFill>
                  <a:srgbClr val="4A4A45"/>
                </a:solidFill>
                <a:latin typeface="Lato Bold" pitchFamily="34" charset="0"/>
                <a:ea typeface="Lato Bold" pitchFamily="34" charset="-122"/>
                <a:cs typeface="Lato Bold" pitchFamily="34" charset="-120"/>
              </a:rPr>
              <a:t>Pie Chart</a:t>
            </a:r>
            <a:endParaRPr lang="en-US" sz="1950" dirty="0"/>
          </a:p>
        </p:txBody>
      </p:sp>
      <p:sp>
        <p:nvSpPr>
          <p:cNvPr id="15" name="Text 9"/>
          <p:cNvSpPr/>
          <p:nvPr/>
        </p:nvSpPr>
        <p:spPr>
          <a:xfrm>
            <a:off x="10355937" y="4546521"/>
            <a:ext cx="3282315" cy="635079"/>
          </a:xfrm>
          <a:prstGeom prst="rect">
            <a:avLst/>
          </a:prstGeom>
          <a:noFill/>
        </p:spPr>
        <p:txBody>
          <a:bodyPr wrap="squar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Distribusi predikat kelulusan dalam persentase</a:t>
            </a:r>
            <a:endParaRPr lang="en-US" sz="1550" dirty="0"/>
          </a:p>
        </p:txBody>
      </p:sp>
      <p:sp>
        <p:nvSpPr>
          <p:cNvPr id="16" name="Shape 10"/>
          <p:cNvSpPr/>
          <p:nvPr/>
        </p:nvSpPr>
        <p:spPr>
          <a:xfrm>
            <a:off x="6280190" y="5578316"/>
            <a:ext cx="7556421" cy="1937147"/>
          </a:xfrm>
          <a:prstGeom prst="roundRect">
            <a:avLst>
              <a:gd name="adj" fmla="val 1537"/>
            </a:avLst>
          </a:prstGeom>
          <a:solidFill>
            <a:srgbClr val="E5DFD2"/>
          </a:solidFill>
        </p:spPr>
        <p:txBody>
          <a:bodyPr/>
          <a:lstStyle/>
          <a:p>
            <a:endParaRPr lang="en-US"/>
          </a:p>
        </p:txBody>
      </p:sp>
      <p:sp>
        <p:nvSpPr>
          <p:cNvPr id="17" name="Shape 11"/>
          <p:cNvSpPr/>
          <p:nvPr/>
        </p:nvSpPr>
        <p:spPr>
          <a:xfrm>
            <a:off x="6478548" y="5776674"/>
            <a:ext cx="595313" cy="595313"/>
          </a:xfrm>
          <a:prstGeom prst="roundRect">
            <a:avLst>
              <a:gd name="adj" fmla="val 15358451"/>
            </a:avLst>
          </a:prstGeom>
          <a:solidFill>
            <a:srgbClr val="282824"/>
          </a:solidFill>
        </p:spPr>
        <p:txBody>
          <a:bodyPr/>
          <a:lstStyle/>
          <a:p>
            <a:endParaRPr lang="en-US"/>
          </a:p>
        </p:txBody>
      </p:sp>
      <p:pic>
        <p:nvPicPr>
          <p:cNvPr id="18"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642259" y="5940266"/>
            <a:ext cx="267891" cy="267891"/>
          </a:xfrm>
          <a:prstGeom prst="rect">
            <a:avLst/>
          </a:prstGeom>
        </p:spPr>
      </p:pic>
      <p:sp>
        <p:nvSpPr>
          <p:cNvPr id="19" name="Text 12"/>
          <p:cNvSpPr/>
          <p:nvPr/>
        </p:nvSpPr>
        <p:spPr>
          <a:xfrm>
            <a:off x="6478548" y="6570345"/>
            <a:ext cx="2480905" cy="310158"/>
          </a:xfrm>
          <a:prstGeom prst="rect">
            <a:avLst/>
          </a:prstGeom>
          <a:noFill/>
        </p:spPr>
        <p:txBody>
          <a:bodyPr wrap="none" lIns="0" tIns="0" rIns="0" bIns="0" rtlCol="0" anchor="t"/>
          <a:lstStyle/>
          <a:p>
            <a:pPr marL="0" indent="0" algn="l">
              <a:lnSpc>
                <a:spcPts val="2400"/>
              </a:lnSpc>
              <a:buNone/>
            </a:pPr>
            <a:r>
              <a:rPr lang="en-US" sz="1950" b="1" dirty="0">
                <a:solidFill>
                  <a:srgbClr val="4A4A45"/>
                </a:solidFill>
                <a:latin typeface="Lato Bold" pitchFamily="34" charset="0"/>
                <a:ea typeface="Lato Bold" pitchFamily="34" charset="-122"/>
                <a:cs typeface="Lato Bold" pitchFamily="34" charset="-120"/>
              </a:rPr>
              <a:t>Perbandingan IPK</a:t>
            </a:r>
            <a:endParaRPr lang="en-US" sz="1950" dirty="0"/>
          </a:p>
        </p:txBody>
      </p:sp>
      <p:sp>
        <p:nvSpPr>
          <p:cNvPr id="20" name="Text 13"/>
          <p:cNvSpPr/>
          <p:nvPr/>
        </p:nvSpPr>
        <p:spPr>
          <a:xfrm>
            <a:off x="6478548" y="6999565"/>
            <a:ext cx="715970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Rata-rata IPK antar program studi</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027753"/>
            <a:ext cx="5874068" cy="620078"/>
          </a:xfrm>
          <a:prstGeom prst="rect">
            <a:avLst/>
          </a:prstGeom>
          <a:noFill/>
        </p:spPr>
        <p:txBody>
          <a:bodyPr wrap="none" lIns="0" tIns="0" rIns="0" bIns="0" rtlCol="0" anchor="t"/>
          <a:lstStyle/>
          <a:p>
            <a:pPr marL="0" indent="0" algn="l">
              <a:lnSpc>
                <a:spcPts val="4850"/>
              </a:lnSpc>
              <a:buNone/>
            </a:pPr>
            <a:r>
              <a:rPr lang="en-US" sz="3900" b="1" dirty="0">
                <a:solidFill>
                  <a:srgbClr val="282824"/>
                </a:solidFill>
                <a:latin typeface="Lato Bold" pitchFamily="34" charset="0"/>
                <a:ea typeface="Lato Bold" pitchFamily="34" charset="-122"/>
                <a:cs typeface="Lato Bold" pitchFamily="34" charset="-120"/>
              </a:rPr>
              <a:t>Contoh Data Hasil Analisis</a:t>
            </a:r>
            <a:endParaRPr lang="en-US" sz="3900" dirty="0"/>
          </a:p>
        </p:txBody>
      </p:sp>
      <p:sp>
        <p:nvSpPr>
          <p:cNvPr id="3" name="Text 1"/>
          <p:cNvSpPr/>
          <p:nvPr/>
        </p:nvSpPr>
        <p:spPr>
          <a:xfrm>
            <a:off x="793790" y="3044666"/>
            <a:ext cx="13042821" cy="635079"/>
          </a:xfrm>
          <a:prstGeom prst="rect">
            <a:avLst/>
          </a:prstGeom>
          <a:noFill/>
        </p:spPr>
        <p:txBody>
          <a:bodyPr wrap="squar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Berikut adalah sampel data hasil ekspor yang menunjukkan informasi lengkap setiap mahasiswa termasuk NIM, nama, program studi, IPK, lama studi, grade, predikat, dan tahun wisuda. Data ini menjadi dasar untuk visualisasi dan analisis lebih lanjut.</a:t>
            </a:r>
            <a:endParaRPr lang="en-US" sz="1550" dirty="0"/>
          </a:p>
        </p:txBody>
      </p:sp>
      <p:sp>
        <p:nvSpPr>
          <p:cNvPr id="4" name="Shape 2"/>
          <p:cNvSpPr/>
          <p:nvPr/>
        </p:nvSpPr>
        <p:spPr>
          <a:xfrm>
            <a:off x="793790" y="3902988"/>
            <a:ext cx="13042821" cy="2298859"/>
          </a:xfrm>
          <a:prstGeom prst="roundRect">
            <a:avLst>
              <a:gd name="adj" fmla="val 1295"/>
            </a:avLst>
          </a:prstGeom>
          <a:noFill/>
          <a:ln w="7620">
            <a:solidFill>
              <a:srgbClr val="000000">
                <a:alpha val="8000"/>
              </a:srgbClr>
            </a:solidFill>
            <a:prstDash val="solid"/>
          </a:ln>
        </p:spPr>
        <p:txBody>
          <a:bodyPr/>
          <a:lstStyle/>
          <a:p>
            <a:endParaRPr lang="en-US"/>
          </a:p>
        </p:txBody>
      </p:sp>
      <p:sp>
        <p:nvSpPr>
          <p:cNvPr id="5" name="Shape 3"/>
          <p:cNvSpPr/>
          <p:nvPr/>
        </p:nvSpPr>
        <p:spPr>
          <a:xfrm>
            <a:off x="801410" y="3910608"/>
            <a:ext cx="13027581" cy="570905"/>
          </a:xfrm>
          <a:prstGeom prst="rect">
            <a:avLst/>
          </a:prstGeom>
          <a:solidFill>
            <a:srgbClr val="FFFFFF">
              <a:alpha val="4000"/>
            </a:srgbClr>
          </a:solidFill>
        </p:spPr>
        <p:txBody>
          <a:bodyPr/>
          <a:lstStyle/>
          <a:p>
            <a:endParaRPr lang="en-US"/>
          </a:p>
        </p:txBody>
      </p:sp>
      <p:sp>
        <p:nvSpPr>
          <p:cNvPr id="6" name="Text 4"/>
          <p:cNvSpPr/>
          <p:nvPr/>
        </p:nvSpPr>
        <p:spPr>
          <a:xfrm>
            <a:off x="1000363" y="4037290"/>
            <a:ext cx="902137"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NIM</a:t>
            </a:r>
            <a:endParaRPr lang="en-US" sz="1550" dirty="0"/>
          </a:p>
        </p:txBody>
      </p:sp>
      <p:sp>
        <p:nvSpPr>
          <p:cNvPr id="7" name="Text 5"/>
          <p:cNvSpPr/>
          <p:nvPr/>
        </p:nvSpPr>
        <p:spPr>
          <a:xfrm>
            <a:off x="2306836" y="4037290"/>
            <a:ext cx="1549717"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Nama</a:t>
            </a:r>
            <a:endParaRPr lang="en-US" sz="1550" dirty="0"/>
          </a:p>
        </p:txBody>
      </p:sp>
      <p:sp>
        <p:nvSpPr>
          <p:cNvPr id="8" name="Text 6"/>
          <p:cNvSpPr/>
          <p:nvPr/>
        </p:nvSpPr>
        <p:spPr>
          <a:xfrm>
            <a:off x="4260890" y="4037290"/>
            <a:ext cx="1549717"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Prodi</a:t>
            </a:r>
            <a:endParaRPr lang="en-US" sz="1550" dirty="0"/>
          </a:p>
        </p:txBody>
      </p:sp>
      <p:sp>
        <p:nvSpPr>
          <p:cNvPr id="9" name="Text 7"/>
          <p:cNvSpPr/>
          <p:nvPr/>
        </p:nvSpPr>
        <p:spPr>
          <a:xfrm>
            <a:off x="6214943" y="4037290"/>
            <a:ext cx="898327"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IPK</a:t>
            </a:r>
            <a:endParaRPr lang="en-US" sz="1550" dirty="0"/>
          </a:p>
        </p:txBody>
      </p:sp>
      <p:sp>
        <p:nvSpPr>
          <p:cNvPr id="10" name="Text 8"/>
          <p:cNvSpPr/>
          <p:nvPr/>
        </p:nvSpPr>
        <p:spPr>
          <a:xfrm>
            <a:off x="7517606" y="4037290"/>
            <a:ext cx="1158954"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Lama Studi</a:t>
            </a:r>
            <a:endParaRPr lang="en-US" sz="1550" dirty="0"/>
          </a:p>
        </p:txBody>
      </p:sp>
      <p:sp>
        <p:nvSpPr>
          <p:cNvPr id="11" name="Text 9"/>
          <p:cNvSpPr/>
          <p:nvPr/>
        </p:nvSpPr>
        <p:spPr>
          <a:xfrm>
            <a:off x="9080897" y="4037290"/>
            <a:ext cx="898327"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Grade</a:t>
            </a:r>
            <a:endParaRPr lang="en-US" sz="1550" dirty="0"/>
          </a:p>
        </p:txBody>
      </p:sp>
      <p:sp>
        <p:nvSpPr>
          <p:cNvPr id="12" name="Text 10"/>
          <p:cNvSpPr/>
          <p:nvPr/>
        </p:nvSpPr>
        <p:spPr>
          <a:xfrm>
            <a:off x="10383560" y="4037290"/>
            <a:ext cx="1549717"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Predikat</a:t>
            </a:r>
            <a:endParaRPr lang="en-US" sz="1550" dirty="0"/>
          </a:p>
        </p:txBody>
      </p:sp>
      <p:sp>
        <p:nvSpPr>
          <p:cNvPr id="13" name="Text 11"/>
          <p:cNvSpPr/>
          <p:nvPr/>
        </p:nvSpPr>
        <p:spPr>
          <a:xfrm>
            <a:off x="12337613" y="4037290"/>
            <a:ext cx="1293019" cy="317540"/>
          </a:xfrm>
          <a:prstGeom prst="rect">
            <a:avLst/>
          </a:prstGeom>
          <a:noFill/>
        </p:spPr>
        <p:txBody>
          <a:bodyPr wrap="none" lIns="0" tIns="0" rIns="0" bIns="0" rtlCol="0" anchor="t"/>
          <a:lstStyle/>
          <a:p>
            <a:pPr marL="0" indent="0" algn="l">
              <a:lnSpc>
                <a:spcPts val="2500"/>
              </a:lnSpc>
              <a:buNone/>
            </a:pPr>
            <a:r>
              <a:rPr lang="en-US" sz="1550" b="1" dirty="0">
                <a:solidFill>
                  <a:srgbClr val="4A4A45"/>
                </a:solidFill>
                <a:latin typeface="Lato" panose="020F0802020204030203" pitchFamily="34" charset="0"/>
                <a:ea typeface="Lato" panose="020F0802020204030203" pitchFamily="34" charset="-122"/>
                <a:cs typeface="Lato" panose="020F0802020204030203" pitchFamily="34" charset="-120"/>
              </a:rPr>
              <a:t>Tahun</a:t>
            </a:r>
            <a:endParaRPr lang="en-US" sz="1550" dirty="0"/>
          </a:p>
        </p:txBody>
      </p:sp>
      <p:sp>
        <p:nvSpPr>
          <p:cNvPr id="14" name="Shape 12"/>
          <p:cNvSpPr/>
          <p:nvPr/>
        </p:nvSpPr>
        <p:spPr>
          <a:xfrm>
            <a:off x="801410" y="4481513"/>
            <a:ext cx="13027581" cy="570905"/>
          </a:xfrm>
          <a:prstGeom prst="rect">
            <a:avLst/>
          </a:prstGeom>
          <a:solidFill>
            <a:srgbClr val="000000">
              <a:alpha val="4000"/>
            </a:srgbClr>
          </a:solidFill>
        </p:spPr>
        <p:txBody>
          <a:bodyPr/>
          <a:lstStyle/>
          <a:p>
            <a:endParaRPr lang="en-US"/>
          </a:p>
        </p:txBody>
      </p:sp>
      <p:sp>
        <p:nvSpPr>
          <p:cNvPr id="15" name="Text 13"/>
          <p:cNvSpPr/>
          <p:nvPr/>
        </p:nvSpPr>
        <p:spPr>
          <a:xfrm>
            <a:off x="1000363" y="4608195"/>
            <a:ext cx="90213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231001</a:t>
            </a:r>
            <a:endParaRPr lang="en-US" sz="1550" dirty="0"/>
          </a:p>
        </p:txBody>
      </p:sp>
      <p:sp>
        <p:nvSpPr>
          <p:cNvPr id="16" name="Text 14"/>
          <p:cNvSpPr/>
          <p:nvPr/>
        </p:nvSpPr>
        <p:spPr>
          <a:xfrm>
            <a:off x="2306836" y="4608195"/>
            <a:ext cx="154971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Citra</a:t>
            </a:r>
            <a:endParaRPr lang="en-US" sz="1550" dirty="0"/>
          </a:p>
        </p:txBody>
      </p:sp>
      <p:sp>
        <p:nvSpPr>
          <p:cNvPr id="17" name="Text 15"/>
          <p:cNvSpPr/>
          <p:nvPr/>
        </p:nvSpPr>
        <p:spPr>
          <a:xfrm>
            <a:off x="4260890" y="4608195"/>
            <a:ext cx="154971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D4 PPA</a:t>
            </a:r>
            <a:endParaRPr lang="en-US" sz="1550" dirty="0"/>
          </a:p>
        </p:txBody>
      </p:sp>
      <p:sp>
        <p:nvSpPr>
          <p:cNvPr id="18" name="Text 16"/>
          <p:cNvSpPr/>
          <p:nvPr/>
        </p:nvSpPr>
        <p:spPr>
          <a:xfrm>
            <a:off x="6214943" y="4608195"/>
            <a:ext cx="8983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3.76</a:t>
            </a:r>
            <a:endParaRPr lang="en-US" sz="1550" dirty="0"/>
          </a:p>
        </p:txBody>
      </p:sp>
      <p:sp>
        <p:nvSpPr>
          <p:cNvPr id="19" name="Text 17"/>
          <p:cNvSpPr/>
          <p:nvPr/>
        </p:nvSpPr>
        <p:spPr>
          <a:xfrm>
            <a:off x="7517606" y="4608195"/>
            <a:ext cx="115895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10</a:t>
            </a:r>
            <a:endParaRPr lang="en-US" sz="1550" dirty="0"/>
          </a:p>
        </p:txBody>
      </p:sp>
      <p:sp>
        <p:nvSpPr>
          <p:cNvPr id="20" name="Text 18"/>
          <p:cNvSpPr/>
          <p:nvPr/>
        </p:nvSpPr>
        <p:spPr>
          <a:xfrm>
            <a:off x="9080897" y="4608195"/>
            <a:ext cx="8983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A</a:t>
            </a:r>
            <a:endParaRPr lang="en-US" sz="1550" dirty="0"/>
          </a:p>
        </p:txBody>
      </p:sp>
      <p:sp>
        <p:nvSpPr>
          <p:cNvPr id="21" name="Text 19"/>
          <p:cNvSpPr/>
          <p:nvPr/>
        </p:nvSpPr>
        <p:spPr>
          <a:xfrm>
            <a:off x="10383560" y="4608195"/>
            <a:ext cx="154971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Memuaskan</a:t>
            </a:r>
            <a:endParaRPr lang="en-US" sz="1550" dirty="0"/>
          </a:p>
        </p:txBody>
      </p:sp>
      <p:sp>
        <p:nvSpPr>
          <p:cNvPr id="22" name="Text 20"/>
          <p:cNvSpPr/>
          <p:nvPr/>
        </p:nvSpPr>
        <p:spPr>
          <a:xfrm>
            <a:off x="12337613" y="4608195"/>
            <a:ext cx="1293019"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2025</a:t>
            </a:r>
            <a:endParaRPr lang="en-US" sz="1550" dirty="0"/>
          </a:p>
        </p:txBody>
      </p:sp>
      <p:sp>
        <p:nvSpPr>
          <p:cNvPr id="23" name="Shape 21"/>
          <p:cNvSpPr/>
          <p:nvPr/>
        </p:nvSpPr>
        <p:spPr>
          <a:xfrm>
            <a:off x="801410" y="5052417"/>
            <a:ext cx="13027581" cy="570905"/>
          </a:xfrm>
          <a:prstGeom prst="rect">
            <a:avLst/>
          </a:prstGeom>
          <a:solidFill>
            <a:srgbClr val="FFFFFF">
              <a:alpha val="4000"/>
            </a:srgbClr>
          </a:solidFill>
        </p:spPr>
        <p:txBody>
          <a:bodyPr/>
          <a:lstStyle/>
          <a:p>
            <a:endParaRPr lang="en-US"/>
          </a:p>
        </p:txBody>
      </p:sp>
      <p:sp>
        <p:nvSpPr>
          <p:cNvPr id="24" name="Text 22"/>
          <p:cNvSpPr/>
          <p:nvPr/>
        </p:nvSpPr>
        <p:spPr>
          <a:xfrm>
            <a:off x="1000363" y="5179100"/>
            <a:ext cx="90213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231002</a:t>
            </a:r>
            <a:endParaRPr lang="en-US" sz="1550" dirty="0"/>
          </a:p>
        </p:txBody>
      </p:sp>
      <p:sp>
        <p:nvSpPr>
          <p:cNvPr id="25" name="Text 23"/>
          <p:cNvSpPr/>
          <p:nvPr/>
        </p:nvSpPr>
        <p:spPr>
          <a:xfrm>
            <a:off x="2306836" y="5179100"/>
            <a:ext cx="154971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Budi Pratama</a:t>
            </a:r>
            <a:endParaRPr lang="en-US" sz="1550" dirty="0"/>
          </a:p>
        </p:txBody>
      </p:sp>
      <p:sp>
        <p:nvSpPr>
          <p:cNvPr id="26" name="Text 24"/>
          <p:cNvSpPr/>
          <p:nvPr/>
        </p:nvSpPr>
        <p:spPr>
          <a:xfrm>
            <a:off x="4260890" y="5179100"/>
            <a:ext cx="154971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D3 TL</a:t>
            </a:r>
            <a:endParaRPr lang="en-US" sz="1550" dirty="0"/>
          </a:p>
        </p:txBody>
      </p:sp>
      <p:sp>
        <p:nvSpPr>
          <p:cNvPr id="27" name="Text 25"/>
          <p:cNvSpPr/>
          <p:nvPr/>
        </p:nvSpPr>
        <p:spPr>
          <a:xfrm>
            <a:off x="6214943" y="5179100"/>
            <a:ext cx="8983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2.88</a:t>
            </a:r>
            <a:endParaRPr lang="en-US" sz="1550" dirty="0"/>
          </a:p>
        </p:txBody>
      </p:sp>
      <p:sp>
        <p:nvSpPr>
          <p:cNvPr id="28" name="Text 26"/>
          <p:cNvSpPr/>
          <p:nvPr/>
        </p:nvSpPr>
        <p:spPr>
          <a:xfrm>
            <a:off x="7517606" y="5179100"/>
            <a:ext cx="115895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7</a:t>
            </a:r>
            <a:endParaRPr lang="en-US" sz="1550" dirty="0"/>
          </a:p>
        </p:txBody>
      </p:sp>
      <p:sp>
        <p:nvSpPr>
          <p:cNvPr id="29" name="Text 27"/>
          <p:cNvSpPr/>
          <p:nvPr/>
        </p:nvSpPr>
        <p:spPr>
          <a:xfrm>
            <a:off x="9080897" y="5179100"/>
            <a:ext cx="8983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C</a:t>
            </a:r>
            <a:endParaRPr lang="en-US" sz="1550" dirty="0"/>
          </a:p>
        </p:txBody>
      </p:sp>
      <p:sp>
        <p:nvSpPr>
          <p:cNvPr id="30" name="Text 28"/>
          <p:cNvSpPr/>
          <p:nvPr/>
        </p:nvSpPr>
        <p:spPr>
          <a:xfrm>
            <a:off x="10383560" y="5179100"/>
            <a:ext cx="154971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Cukup</a:t>
            </a:r>
            <a:endParaRPr lang="en-US" sz="1550" dirty="0"/>
          </a:p>
        </p:txBody>
      </p:sp>
      <p:sp>
        <p:nvSpPr>
          <p:cNvPr id="31" name="Text 29"/>
          <p:cNvSpPr/>
          <p:nvPr/>
        </p:nvSpPr>
        <p:spPr>
          <a:xfrm>
            <a:off x="12337613" y="5179100"/>
            <a:ext cx="1293019"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2025</a:t>
            </a:r>
            <a:endParaRPr lang="en-US" sz="1550" dirty="0"/>
          </a:p>
        </p:txBody>
      </p:sp>
      <p:sp>
        <p:nvSpPr>
          <p:cNvPr id="32" name="Shape 30"/>
          <p:cNvSpPr/>
          <p:nvPr/>
        </p:nvSpPr>
        <p:spPr>
          <a:xfrm>
            <a:off x="801410" y="5623322"/>
            <a:ext cx="13027581" cy="570905"/>
          </a:xfrm>
          <a:prstGeom prst="rect">
            <a:avLst/>
          </a:prstGeom>
          <a:solidFill>
            <a:srgbClr val="000000">
              <a:alpha val="4000"/>
            </a:srgbClr>
          </a:solidFill>
        </p:spPr>
        <p:txBody>
          <a:bodyPr/>
          <a:lstStyle/>
          <a:p>
            <a:endParaRPr lang="en-US"/>
          </a:p>
        </p:txBody>
      </p:sp>
      <p:sp>
        <p:nvSpPr>
          <p:cNvPr id="33" name="Text 31"/>
          <p:cNvSpPr/>
          <p:nvPr/>
        </p:nvSpPr>
        <p:spPr>
          <a:xfrm>
            <a:off x="1000363" y="5750004"/>
            <a:ext cx="90213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231003</a:t>
            </a:r>
            <a:endParaRPr lang="en-US" sz="1550" dirty="0"/>
          </a:p>
        </p:txBody>
      </p:sp>
      <p:sp>
        <p:nvSpPr>
          <p:cNvPr id="34" name="Text 32"/>
          <p:cNvSpPr/>
          <p:nvPr/>
        </p:nvSpPr>
        <p:spPr>
          <a:xfrm>
            <a:off x="2306836" y="5750004"/>
            <a:ext cx="154971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Tina Saputra</a:t>
            </a:r>
            <a:endParaRPr lang="en-US" sz="1550" dirty="0"/>
          </a:p>
        </p:txBody>
      </p:sp>
      <p:sp>
        <p:nvSpPr>
          <p:cNvPr id="35" name="Text 33"/>
          <p:cNvSpPr/>
          <p:nvPr/>
        </p:nvSpPr>
        <p:spPr>
          <a:xfrm>
            <a:off x="4260890" y="5750004"/>
            <a:ext cx="154971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D4 RKS</a:t>
            </a:r>
            <a:endParaRPr lang="en-US" sz="1550" dirty="0"/>
          </a:p>
        </p:txBody>
      </p:sp>
      <p:sp>
        <p:nvSpPr>
          <p:cNvPr id="36" name="Text 34"/>
          <p:cNvSpPr/>
          <p:nvPr/>
        </p:nvSpPr>
        <p:spPr>
          <a:xfrm>
            <a:off x="6214943" y="5750004"/>
            <a:ext cx="8983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3.93</a:t>
            </a:r>
            <a:endParaRPr lang="en-US" sz="1550" dirty="0"/>
          </a:p>
        </p:txBody>
      </p:sp>
      <p:sp>
        <p:nvSpPr>
          <p:cNvPr id="37" name="Text 35"/>
          <p:cNvSpPr/>
          <p:nvPr/>
        </p:nvSpPr>
        <p:spPr>
          <a:xfrm>
            <a:off x="7517606" y="5750004"/>
            <a:ext cx="1158954"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6</a:t>
            </a:r>
            <a:endParaRPr lang="en-US" sz="1550" dirty="0"/>
          </a:p>
        </p:txBody>
      </p:sp>
      <p:sp>
        <p:nvSpPr>
          <p:cNvPr id="38" name="Text 36"/>
          <p:cNvSpPr/>
          <p:nvPr/>
        </p:nvSpPr>
        <p:spPr>
          <a:xfrm>
            <a:off x="9080897" y="5750004"/>
            <a:ext cx="89832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A</a:t>
            </a:r>
            <a:endParaRPr lang="en-US" sz="1550" dirty="0"/>
          </a:p>
        </p:txBody>
      </p:sp>
      <p:sp>
        <p:nvSpPr>
          <p:cNvPr id="39" name="Text 37"/>
          <p:cNvSpPr/>
          <p:nvPr/>
        </p:nvSpPr>
        <p:spPr>
          <a:xfrm>
            <a:off x="10383560" y="5750004"/>
            <a:ext cx="1549717"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Cumlaude</a:t>
            </a:r>
            <a:endParaRPr lang="en-US" sz="1550" dirty="0"/>
          </a:p>
        </p:txBody>
      </p:sp>
      <p:sp>
        <p:nvSpPr>
          <p:cNvPr id="40" name="Text 38"/>
          <p:cNvSpPr/>
          <p:nvPr/>
        </p:nvSpPr>
        <p:spPr>
          <a:xfrm>
            <a:off x="12337613" y="5750004"/>
            <a:ext cx="1293019"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2025</a:t>
            </a:r>
            <a:endParaRPr lang="en-US" sz="15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93790" y="2544604"/>
            <a:ext cx="6770489" cy="620078"/>
          </a:xfrm>
          <a:prstGeom prst="rect">
            <a:avLst/>
          </a:prstGeom>
          <a:noFill/>
        </p:spPr>
        <p:txBody>
          <a:bodyPr wrap="none" lIns="0" tIns="0" rIns="0" bIns="0" rtlCol="0" anchor="t"/>
          <a:lstStyle/>
          <a:p>
            <a:pPr marL="0" indent="0" algn="l">
              <a:lnSpc>
                <a:spcPts val="4850"/>
              </a:lnSpc>
              <a:buNone/>
            </a:pPr>
            <a:r>
              <a:rPr lang="en-US" sz="3900" b="1" dirty="0">
                <a:solidFill>
                  <a:srgbClr val="282824"/>
                </a:solidFill>
                <a:latin typeface="Lato Bold" pitchFamily="34" charset="0"/>
                <a:ea typeface="Lato Bold" pitchFamily="34" charset="-122"/>
                <a:cs typeface="Lato Bold" pitchFamily="34" charset="-120"/>
              </a:rPr>
              <a:t>KENDALA DAN KESIMPULAN</a:t>
            </a:r>
            <a:endParaRPr lang="en-US" sz="3900" dirty="0"/>
          </a:p>
        </p:txBody>
      </p:sp>
      <p:sp>
        <p:nvSpPr>
          <p:cNvPr id="3" name="Text 1"/>
          <p:cNvSpPr/>
          <p:nvPr/>
        </p:nvSpPr>
        <p:spPr>
          <a:xfrm>
            <a:off x="793790" y="3640931"/>
            <a:ext cx="6279356" cy="317540"/>
          </a:xfrm>
          <a:prstGeom prst="rect">
            <a:avLst/>
          </a:prstGeom>
          <a:noFill/>
        </p:spPr>
        <p:txBody>
          <a:bodyPr wrap="non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Kendala Yang Kelompok Kita Alami :</a:t>
            </a:r>
            <a:endParaRPr lang="en-US" sz="1550" dirty="0"/>
          </a:p>
        </p:txBody>
      </p:sp>
      <p:sp>
        <p:nvSpPr>
          <p:cNvPr id="4" name="Text 2"/>
          <p:cNvSpPr/>
          <p:nvPr/>
        </p:nvSpPr>
        <p:spPr>
          <a:xfrm>
            <a:off x="793790" y="4137065"/>
            <a:ext cx="6279356" cy="317540"/>
          </a:xfrm>
          <a:prstGeom prst="rect">
            <a:avLst/>
          </a:prstGeom>
          <a:noFill/>
        </p:spPr>
        <p:txBody>
          <a:bodyPr wrap="none" lIns="0" tIns="0" rIns="0" bIns="0" rtlCol="0" anchor="t"/>
          <a:lstStyle/>
          <a:p>
            <a:pPr marL="342900" indent="-342900" algn="l">
              <a:lnSpc>
                <a:spcPts val="2500"/>
              </a:lnSpc>
              <a:buSzPct val="100000"/>
              <a:buFont typeface="+mj-lt"/>
              <a:buAutoNum type="arabicPeriod"/>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Kurangnya ketelitian dalam menganlisis data</a:t>
            </a:r>
            <a:endParaRPr lang="en-US" sz="1550" dirty="0"/>
          </a:p>
        </p:txBody>
      </p:sp>
      <p:sp>
        <p:nvSpPr>
          <p:cNvPr id="5" name="Text 3"/>
          <p:cNvSpPr/>
          <p:nvPr/>
        </p:nvSpPr>
        <p:spPr>
          <a:xfrm>
            <a:off x="793790" y="4524018"/>
            <a:ext cx="6279356" cy="317540"/>
          </a:xfrm>
          <a:prstGeom prst="rect">
            <a:avLst/>
          </a:prstGeom>
          <a:noFill/>
        </p:spPr>
        <p:txBody>
          <a:bodyPr wrap="none" lIns="0" tIns="0" rIns="0" bIns="0" rtlCol="0" anchor="t"/>
          <a:lstStyle/>
          <a:p>
            <a:pPr marL="342900" indent="-342900" algn="l">
              <a:lnSpc>
                <a:spcPts val="2500"/>
              </a:lnSpc>
              <a:buSzPct val="100000"/>
              <a:buFont typeface="+mj-lt"/>
              <a:buAutoNum type="arabicPeriod" startAt="2"/>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Sering terjadinya  misskom</a:t>
            </a:r>
            <a:endParaRPr lang="en-US" sz="1550" dirty="0"/>
          </a:p>
        </p:txBody>
      </p:sp>
      <p:sp>
        <p:nvSpPr>
          <p:cNvPr id="6" name="Text 4"/>
          <p:cNvSpPr/>
          <p:nvPr/>
        </p:nvSpPr>
        <p:spPr>
          <a:xfrm>
            <a:off x="793790" y="4910971"/>
            <a:ext cx="6279356" cy="317540"/>
          </a:xfrm>
          <a:prstGeom prst="rect">
            <a:avLst/>
          </a:prstGeom>
          <a:noFill/>
        </p:spPr>
        <p:txBody>
          <a:bodyPr wrap="none" lIns="0" tIns="0" rIns="0" bIns="0" rtlCol="0" anchor="t"/>
          <a:lstStyle/>
          <a:p>
            <a:pPr marL="342900" indent="-342900" algn="l">
              <a:lnSpc>
                <a:spcPts val="2500"/>
              </a:lnSpc>
              <a:buSzPct val="100000"/>
              <a:buFont typeface="+mj-lt"/>
              <a:buAutoNum type="arabicPeriod" startAt="3"/>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Kadang masih terlalu egois</a:t>
            </a:r>
            <a:endParaRPr lang="en-US" sz="1550" dirty="0"/>
          </a:p>
        </p:txBody>
      </p:sp>
      <p:sp>
        <p:nvSpPr>
          <p:cNvPr id="7" name="Text 5"/>
          <p:cNvSpPr/>
          <p:nvPr/>
        </p:nvSpPr>
        <p:spPr>
          <a:xfrm>
            <a:off x="793790" y="5297924"/>
            <a:ext cx="6279356" cy="317540"/>
          </a:xfrm>
          <a:prstGeom prst="rect">
            <a:avLst/>
          </a:prstGeom>
          <a:noFill/>
        </p:spPr>
        <p:txBody>
          <a:bodyPr wrap="none" lIns="0" tIns="0" rIns="0" bIns="0" rtlCol="0" anchor="t"/>
          <a:lstStyle/>
          <a:p>
            <a:pPr marL="342900" indent="-342900" algn="l">
              <a:lnSpc>
                <a:spcPts val="2500"/>
              </a:lnSpc>
              <a:buSzPct val="100000"/>
              <a:buFont typeface="+mj-lt"/>
              <a:buAutoNum type="arabicPeriod" startAt="4"/>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Terjadi nya error pada saat running program.</a:t>
            </a:r>
            <a:endParaRPr lang="en-US" sz="1550" dirty="0"/>
          </a:p>
        </p:txBody>
      </p:sp>
      <p:sp>
        <p:nvSpPr>
          <p:cNvPr id="8" name="Text 6"/>
          <p:cNvSpPr/>
          <p:nvPr/>
        </p:nvSpPr>
        <p:spPr>
          <a:xfrm>
            <a:off x="7564874" y="3640931"/>
            <a:ext cx="6279356" cy="1270159"/>
          </a:xfrm>
          <a:prstGeom prst="rect">
            <a:avLst/>
          </a:prstGeom>
          <a:noFill/>
        </p:spPr>
        <p:txBody>
          <a:bodyPr wrap="square" lIns="0" tIns="0" rIns="0" bIns="0" rtlCol="0" anchor="t"/>
          <a:lstStyle/>
          <a:p>
            <a:pPr marL="0" indent="0" algn="l">
              <a:lnSpc>
                <a:spcPts val="2500"/>
              </a:lnSpc>
              <a:buNone/>
            </a:pPr>
            <a:r>
              <a:rPr lang="en-US" sz="1550" dirty="0">
                <a:solidFill>
                  <a:srgbClr val="4A4A45"/>
                </a:solidFill>
                <a:latin typeface="Lato" panose="020F0802020204030203" pitchFamily="34" charset="0"/>
                <a:ea typeface="Lato" panose="020F0802020204030203" pitchFamily="34" charset="-122"/>
                <a:cs typeface="Lato" panose="020F0802020204030203" pitchFamily="34" charset="-120"/>
              </a:rPr>
              <a:t>Kesimpulan yang dapat kami sampaikan adalah keberhasilan projek ini dalam </a:t>
            </a:r>
            <a:r>
              <a:rPr lang="en-US" altLang="en-US" sz="1550" dirty="0">
                <a:solidFill>
                  <a:srgbClr val="4A4A45"/>
                </a:solidFill>
                <a:latin typeface="Lato" panose="020F0802020204030203" pitchFamily="34" charset="0"/>
                <a:ea typeface="Lato" panose="020F0802020204030203" pitchFamily="34" charset="-122"/>
                <a:cs typeface="Lato" panose="020F0802020204030203" pitchFamily="34" charset="-120"/>
              </a:rPr>
              <a:t>menunjukkan bagaimana data calon wisudawan dapat dianalisis secara sistematis menggunakan Python dan Excel. Melalui tahapan data cleansing, perhitungan statistik, klasifikasi grade dan predikat, hingga visualisasi hasil, tim mampu menghasilkan analisis yang akurat, informatif, dan mudah dipahami.</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895F25-D212-510F-2495-C1876BDA608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74B4938-BCEA-BD8D-4ED6-3F4F3A212B2B}"/>
              </a:ext>
            </a:extLst>
          </p:cNvPr>
          <p:cNvSpPr/>
          <p:nvPr/>
        </p:nvSpPr>
        <p:spPr>
          <a:xfrm>
            <a:off x="793790" y="2544604"/>
            <a:ext cx="6770489" cy="620078"/>
          </a:xfrm>
          <a:prstGeom prst="rect">
            <a:avLst/>
          </a:prstGeom>
          <a:noFill/>
        </p:spPr>
        <p:txBody>
          <a:bodyPr wrap="none" lIns="0" tIns="0" rIns="0" bIns="0" rtlCol="0" anchor="t"/>
          <a:lstStyle/>
          <a:p>
            <a:pPr marL="0" indent="0" algn="l">
              <a:lnSpc>
                <a:spcPts val="4850"/>
              </a:lnSpc>
              <a:buNone/>
            </a:pPr>
            <a:r>
              <a:rPr lang="id-ID" sz="3900" b="1" dirty="0">
                <a:solidFill>
                  <a:srgbClr val="282824"/>
                </a:solidFill>
                <a:latin typeface="Lato Bold" pitchFamily="34" charset="0"/>
                <a:ea typeface="Lato Bold" pitchFamily="34" charset="-122"/>
                <a:cs typeface="Lato Bold" pitchFamily="34" charset="-120"/>
              </a:rPr>
              <a:t>Pengembangan dan Saran</a:t>
            </a:r>
            <a:endParaRPr lang="en-US" sz="3900" dirty="0"/>
          </a:p>
        </p:txBody>
      </p:sp>
      <p:sp>
        <p:nvSpPr>
          <p:cNvPr id="8" name="Text 6">
            <a:extLst>
              <a:ext uri="{FF2B5EF4-FFF2-40B4-BE49-F238E27FC236}">
                <a16:creationId xmlns:a16="http://schemas.microsoft.com/office/drawing/2014/main" id="{0F81EEF5-47EA-0F7F-5979-182AE8C92D3D}"/>
              </a:ext>
            </a:extLst>
          </p:cNvPr>
          <p:cNvSpPr/>
          <p:nvPr/>
        </p:nvSpPr>
        <p:spPr>
          <a:xfrm>
            <a:off x="793790" y="3157804"/>
            <a:ext cx="6387846" cy="2585449"/>
          </a:xfrm>
          <a:prstGeom prst="rect">
            <a:avLst/>
          </a:prstGeom>
          <a:noFill/>
        </p:spPr>
        <p:txBody>
          <a:bodyPr wrap="square" lIns="0" tIns="0" rIns="0" bIns="0" rtlCol="0" anchor="t"/>
          <a:lstStyle/>
          <a:p>
            <a:pPr>
              <a:lnSpc>
                <a:spcPts val="2500"/>
              </a:lnSpc>
            </a:pPr>
            <a:r>
              <a:rPr lang="en-US" sz="1550" dirty="0" err="1">
                <a:latin typeface="Lato" panose="020F0502020204030203" pitchFamily="34" charset="0"/>
                <a:ea typeface="Lato" panose="020F0502020204030203" pitchFamily="34" charset="0"/>
                <a:cs typeface="Lato" panose="020F0502020204030203" pitchFamily="34" charset="0"/>
              </a:rPr>
              <a:t>Beberapa</a:t>
            </a:r>
            <a:r>
              <a:rPr lang="en-US" sz="1550" dirty="0">
                <a:latin typeface="Lato" panose="020F0502020204030203" pitchFamily="34" charset="0"/>
                <a:ea typeface="Lato" panose="020F0502020204030203" pitchFamily="34" charset="0"/>
                <a:cs typeface="Lato" panose="020F0502020204030203" pitchFamily="34" charset="0"/>
              </a:rPr>
              <a:t> saran </a:t>
            </a:r>
            <a:r>
              <a:rPr lang="en-US" sz="1550" dirty="0" err="1">
                <a:latin typeface="Lato" panose="020F0502020204030203" pitchFamily="34" charset="0"/>
                <a:ea typeface="Lato" panose="020F0502020204030203" pitchFamily="34" charset="0"/>
                <a:cs typeface="Lato" panose="020F0502020204030203" pitchFamily="34" charset="0"/>
              </a:rPr>
              <a:t>pengembangan</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proyek</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ini</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antara</a:t>
            </a:r>
            <a:r>
              <a:rPr lang="en-US" sz="1550" dirty="0">
                <a:latin typeface="Lato" panose="020F0502020204030203" pitchFamily="34" charset="0"/>
                <a:ea typeface="Lato" panose="020F0502020204030203" pitchFamily="34" charset="0"/>
                <a:cs typeface="Lato" panose="020F0502020204030203" pitchFamily="34" charset="0"/>
              </a:rPr>
              <a:t> lain: </a:t>
            </a:r>
            <a:r>
              <a:rPr lang="id-ID" sz="1550" dirty="0">
                <a:latin typeface="Lato" panose="020F0502020204030203" pitchFamily="34" charset="0"/>
                <a:ea typeface="Lato" panose="020F0502020204030203" pitchFamily="34" charset="0"/>
                <a:cs typeface="Lato" panose="020F0502020204030203" pitchFamily="34" charset="0"/>
              </a:rPr>
              <a:t>mungkin </a:t>
            </a:r>
            <a:r>
              <a:rPr lang="id-ID" sz="1550" dirty="0" err="1">
                <a:latin typeface="Lato" panose="020F0502020204030203" pitchFamily="34" charset="0"/>
                <a:ea typeface="Lato" panose="020F0502020204030203" pitchFamily="34" charset="0"/>
                <a:cs typeface="Lato" panose="020F0502020204030203" pitchFamily="34" charset="0"/>
              </a:rPr>
              <a:t>kedepannya</a:t>
            </a:r>
            <a:r>
              <a:rPr lang="id-ID" sz="1550" dirty="0">
                <a:latin typeface="Lato" panose="020F0502020204030203" pitchFamily="34" charset="0"/>
                <a:ea typeface="Lato" panose="020F0502020204030203" pitchFamily="34" charset="0"/>
                <a:cs typeface="Lato" panose="020F0502020204030203" pitchFamily="34" charset="0"/>
              </a:rPr>
              <a:t>  bisa di</a:t>
            </a:r>
            <a:r>
              <a:rPr lang="en-US" sz="1550" dirty="0" err="1">
                <a:latin typeface="Lato" panose="020F0502020204030203" pitchFamily="34" charset="0"/>
                <a:ea typeface="Lato" panose="020F0502020204030203" pitchFamily="34" charset="0"/>
                <a:cs typeface="Lato" panose="020F0502020204030203" pitchFamily="34" charset="0"/>
              </a:rPr>
              <a:t>tambahkan</a:t>
            </a:r>
            <a:r>
              <a:rPr lang="en-US" sz="1550" dirty="0">
                <a:latin typeface="Lato" panose="020F0502020204030203" pitchFamily="34" charset="0"/>
                <a:ea typeface="Lato" panose="020F0502020204030203" pitchFamily="34" charset="0"/>
                <a:cs typeface="Lato" panose="020F0502020204030203" pitchFamily="34" charset="0"/>
              </a:rPr>
              <a:t> </a:t>
            </a:r>
            <a:r>
              <a:rPr lang="en-US" sz="1550" b="1" dirty="0" err="1">
                <a:latin typeface="Lato" panose="020F0502020204030203" pitchFamily="34" charset="0"/>
                <a:ea typeface="Lato" panose="020F0502020204030203" pitchFamily="34" charset="0"/>
                <a:cs typeface="Lato" panose="020F0502020204030203" pitchFamily="34" charset="0"/>
              </a:rPr>
              <a:t>analisis</a:t>
            </a:r>
            <a:r>
              <a:rPr lang="en-US" sz="1550" b="1" dirty="0">
                <a:latin typeface="Lato" panose="020F0502020204030203" pitchFamily="34" charset="0"/>
                <a:ea typeface="Lato" panose="020F0502020204030203" pitchFamily="34" charset="0"/>
                <a:cs typeface="Lato" panose="020F0502020204030203" pitchFamily="34" charset="0"/>
              </a:rPr>
              <a:t> </a:t>
            </a:r>
            <a:r>
              <a:rPr lang="en-US" sz="1550" b="1" dirty="0" err="1">
                <a:latin typeface="Lato" panose="020F0502020204030203" pitchFamily="34" charset="0"/>
                <a:ea typeface="Lato" panose="020F0502020204030203" pitchFamily="34" charset="0"/>
                <a:cs typeface="Lato" panose="020F0502020204030203" pitchFamily="34" charset="0"/>
              </a:rPr>
              <a:t>korelasi</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antara</a:t>
            </a:r>
            <a:r>
              <a:rPr lang="en-US" sz="1550" dirty="0">
                <a:latin typeface="Lato" panose="020F0502020204030203" pitchFamily="34" charset="0"/>
                <a:ea typeface="Lato" panose="020F0502020204030203" pitchFamily="34" charset="0"/>
                <a:cs typeface="Lato" panose="020F0502020204030203" pitchFamily="34" charset="0"/>
              </a:rPr>
              <a:t> IPK dan lama </a:t>
            </a:r>
            <a:r>
              <a:rPr lang="en-US" sz="1550" dirty="0" err="1">
                <a:latin typeface="Lato" panose="020F0502020204030203" pitchFamily="34" charset="0"/>
                <a:ea typeface="Lato" panose="020F0502020204030203" pitchFamily="34" charset="0"/>
                <a:cs typeface="Lato" panose="020F0502020204030203" pitchFamily="34" charset="0"/>
              </a:rPr>
              <a:t>studi</a:t>
            </a:r>
            <a:r>
              <a:rPr lang="en-US" sz="1550" dirty="0">
                <a:latin typeface="Lato" panose="020F0502020204030203" pitchFamily="34" charset="0"/>
                <a:ea typeface="Lato" panose="020F0502020204030203" pitchFamily="34" charset="0"/>
                <a:cs typeface="Lato" panose="020F0502020204030203" pitchFamily="34" charset="0"/>
              </a:rPr>
              <a:t>, </a:t>
            </a:r>
            <a:r>
              <a:rPr lang="id-ID" sz="1550" dirty="0">
                <a:latin typeface="Lato" panose="020F0502020204030203" pitchFamily="34" charset="0"/>
                <a:ea typeface="Lato" panose="020F0502020204030203" pitchFamily="34" charset="0"/>
                <a:cs typeface="Lato" panose="020F0502020204030203" pitchFamily="34" charset="0"/>
              </a:rPr>
              <a:t>kemudian bisa dibuat</a:t>
            </a:r>
            <a:r>
              <a:rPr lang="en-US" sz="1550" dirty="0">
                <a:latin typeface="Lato" panose="020F0502020204030203" pitchFamily="34" charset="0"/>
                <a:ea typeface="Lato" panose="020F0502020204030203" pitchFamily="34" charset="0"/>
                <a:cs typeface="Lato" panose="020F0502020204030203" pitchFamily="34" charset="0"/>
              </a:rPr>
              <a:t> </a:t>
            </a:r>
            <a:r>
              <a:rPr lang="en-US" sz="1550" b="1" dirty="0">
                <a:latin typeface="Lato" panose="020F0502020204030203" pitchFamily="34" charset="0"/>
                <a:ea typeface="Lato" panose="020F0502020204030203" pitchFamily="34" charset="0"/>
                <a:cs typeface="Lato" panose="020F0502020204030203" pitchFamily="34" charset="0"/>
              </a:rPr>
              <a:t>dashboard </a:t>
            </a:r>
            <a:r>
              <a:rPr lang="en-US" sz="1550" b="1" dirty="0" err="1">
                <a:latin typeface="Lato" panose="020F0502020204030203" pitchFamily="34" charset="0"/>
                <a:ea typeface="Lato" panose="020F0502020204030203" pitchFamily="34" charset="0"/>
                <a:cs typeface="Lato" panose="020F0502020204030203" pitchFamily="34" charset="0"/>
              </a:rPr>
              <a:t>interaktif</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dengan</a:t>
            </a:r>
            <a:r>
              <a:rPr lang="en-US" sz="1550" dirty="0">
                <a:latin typeface="Lato" panose="020F0502020204030203" pitchFamily="34" charset="0"/>
                <a:ea typeface="Lato" panose="020F0502020204030203" pitchFamily="34" charset="0"/>
                <a:cs typeface="Lato" panose="020F0502020204030203" pitchFamily="34" charset="0"/>
              </a:rPr>
              <a:t> </a:t>
            </a:r>
            <a:r>
              <a:rPr lang="en-US" sz="1550" i="1" dirty="0" err="1">
                <a:latin typeface="Lato" panose="020F0502020204030203" pitchFamily="34" charset="0"/>
                <a:ea typeface="Lato" panose="020F0502020204030203" pitchFamily="34" charset="0"/>
                <a:cs typeface="Lato" panose="020F0502020204030203" pitchFamily="34" charset="0"/>
              </a:rPr>
              <a:t>Streamlit</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serta</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lakukan</a:t>
            </a:r>
            <a:r>
              <a:rPr lang="en-US" sz="1550" dirty="0">
                <a:latin typeface="Lato" panose="020F0502020204030203" pitchFamily="34" charset="0"/>
                <a:ea typeface="Lato" panose="020F0502020204030203" pitchFamily="34" charset="0"/>
                <a:cs typeface="Lato" panose="020F0502020204030203" pitchFamily="34" charset="0"/>
              </a:rPr>
              <a:t> </a:t>
            </a:r>
            <a:r>
              <a:rPr lang="en-US" sz="1550" b="1" dirty="0" err="1">
                <a:latin typeface="Lato" panose="020F0502020204030203" pitchFamily="34" charset="0"/>
                <a:ea typeface="Lato" panose="020F0502020204030203" pitchFamily="34" charset="0"/>
                <a:cs typeface="Lato" panose="020F0502020204030203" pitchFamily="34" charset="0"/>
              </a:rPr>
              <a:t>deteksi</a:t>
            </a:r>
            <a:r>
              <a:rPr lang="en-US" sz="1550" b="1" dirty="0">
                <a:latin typeface="Lato" panose="020F0502020204030203" pitchFamily="34" charset="0"/>
                <a:ea typeface="Lato" panose="020F0502020204030203" pitchFamily="34" charset="0"/>
                <a:cs typeface="Lato" panose="020F0502020204030203" pitchFamily="34" charset="0"/>
              </a:rPr>
              <a:t> data </a:t>
            </a:r>
            <a:r>
              <a:rPr lang="en-US" sz="1550" b="1" dirty="0" err="1">
                <a:latin typeface="Lato" panose="020F0502020204030203" pitchFamily="34" charset="0"/>
                <a:ea typeface="Lato" panose="020F0502020204030203" pitchFamily="34" charset="0"/>
                <a:cs typeface="Lato" panose="020F0502020204030203" pitchFamily="34" charset="0"/>
              </a:rPr>
              <a:t>tidak</a:t>
            </a:r>
            <a:r>
              <a:rPr lang="en-US" sz="1550" b="1" dirty="0">
                <a:latin typeface="Lato" panose="020F0502020204030203" pitchFamily="34" charset="0"/>
                <a:ea typeface="Lato" panose="020F0502020204030203" pitchFamily="34" charset="0"/>
                <a:cs typeface="Lato" panose="020F0502020204030203" pitchFamily="34" charset="0"/>
              </a:rPr>
              <a:t> </a:t>
            </a:r>
            <a:r>
              <a:rPr lang="en-US" sz="1550" b="1" dirty="0" err="1">
                <a:latin typeface="Lato" panose="020F0502020204030203" pitchFamily="34" charset="0"/>
                <a:ea typeface="Lato" panose="020F0502020204030203" pitchFamily="34" charset="0"/>
                <a:cs typeface="Lato" panose="020F0502020204030203" pitchFamily="34" charset="0"/>
              </a:rPr>
              <a:t>wajar</a:t>
            </a:r>
            <a:r>
              <a:rPr lang="en-US" sz="1550" b="1" dirty="0">
                <a:latin typeface="Lato" panose="020F0502020204030203" pitchFamily="34" charset="0"/>
                <a:ea typeface="Lato" panose="020F0502020204030203" pitchFamily="34" charset="0"/>
                <a:cs typeface="Lato" panose="020F0502020204030203" pitchFamily="34" charset="0"/>
              </a:rPr>
              <a:t> (outlier)</a:t>
            </a:r>
            <a:r>
              <a:rPr lang="en-US" sz="1550" dirty="0">
                <a:latin typeface="Lato" panose="020F0502020204030203" pitchFamily="34" charset="0"/>
                <a:ea typeface="Lato" panose="020F0502020204030203" pitchFamily="34" charset="0"/>
                <a:cs typeface="Lato" panose="020F0502020204030203" pitchFamily="34" charset="0"/>
              </a:rPr>
              <a:t>. Tampilkan </a:t>
            </a:r>
            <a:r>
              <a:rPr lang="en-US" sz="1550" b="1" dirty="0">
                <a:latin typeface="Lato" panose="020F0502020204030203" pitchFamily="34" charset="0"/>
                <a:ea typeface="Lato" panose="020F0502020204030203" pitchFamily="34" charset="0"/>
                <a:cs typeface="Lato" panose="020F0502020204030203" pitchFamily="34" charset="0"/>
              </a:rPr>
              <a:t>boxplot per program </a:t>
            </a:r>
            <a:r>
              <a:rPr lang="en-US" sz="1550" b="1" dirty="0" err="1">
                <a:latin typeface="Lato" panose="020F0502020204030203" pitchFamily="34" charset="0"/>
                <a:ea typeface="Lato" panose="020F0502020204030203" pitchFamily="34" charset="0"/>
                <a:cs typeface="Lato" panose="020F0502020204030203" pitchFamily="34" charset="0"/>
              </a:rPr>
              <a:t>studi</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untuk</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melihat</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perbandingan</a:t>
            </a:r>
            <a:r>
              <a:rPr lang="en-US" sz="1550" dirty="0">
                <a:latin typeface="Lato" panose="020F0502020204030203" pitchFamily="34" charset="0"/>
                <a:ea typeface="Lato" panose="020F0502020204030203" pitchFamily="34" charset="0"/>
                <a:cs typeface="Lato" panose="020F0502020204030203" pitchFamily="34" charset="0"/>
              </a:rPr>
              <a:t> IPK, dan </a:t>
            </a:r>
            <a:r>
              <a:rPr lang="en-US" sz="1550" dirty="0" err="1">
                <a:latin typeface="Lato" panose="020F0502020204030203" pitchFamily="34" charset="0"/>
                <a:ea typeface="Lato" panose="020F0502020204030203" pitchFamily="34" charset="0"/>
                <a:cs typeface="Lato" panose="020F0502020204030203" pitchFamily="34" charset="0"/>
              </a:rPr>
              <a:t>tambahkan</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fitur</a:t>
            </a:r>
            <a:r>
              <a:rPr lang="en-US" sz="1550" dirty="0">
                <a:latin typeface="Lato" panose="020F0502020204030203" pitchFamily="34" charset="0"/>
                <a:ea typeface="Lato" panose="020F0502020204030203" pitchFamily="34" charset="0"/>
                <a:cs typeface="Lato" panose="020F0502020204030203" pitchFamily="34" charset="0"/>
              </a:rPr>
              <a:t> </a:t>
            </a:r>
            <a:r>
              <a:rPr lang="en-US" sz="1550" b="1" dirty="0" err="1">
                <a:latin typeface="Lato" panose="020F0502020204030203" pitchFamily="34" charset="0"/>
                <a:ea typeface="Lato" panose="020F0502020204030203" pitchFamily="34" charset="0"/>
                <a:cs typeface="Lato" panose="020F0502020204030203" pitchFamily="34" charset="0"/>
              </a:rPr>
              <a:t>prediksi</a:t>
            </a:r>
            <a:r>
              <a:rPr lang="en-US" sz="1550" b="1" dirty="0">
                <a:latin typeface="Lato" panose="020F0502020204030203" pitchFamily="34" charset="0"/>
                <a:ea typeface="Lato" panose="020F0502020204030203" pitchFamily="34" charset="0"/>
                <a:cs typeface="Lato" panose="020F0502020204030203" pitchFamily="34" charset="0"/>
              </a:rPr>
              <a:t> </a:t>
            </a:r>
            <a:r>
              <a:rPr lang="en-US" sz="1550" b="1" dirty="0" err="1">
                <a:latin typeface="Lato" panose="020F0502020204030203" pitchFamily="34" charset="0"/>
                <a:ea typeface="Lato" panose="020F0502020204030203" pitchFamily="34" charset="0"/>
                <a:cs typeface="Lato" panose="020F0502020204030203" pitchFamily="34" charset="0"/>
              </a:rPr>
              <a:t>predikat</a:t>
            </a:r>
            <a:r>
              <a:rPr lang="en-US" sz="1550" b="1" dirty="0">
                <a:latin typeface="Lato" panose="020F0502020204030203" pitchFamily="34" charset="0"/>
                <a:ea typeface="Lato" panose="020F0502020204030203" pitchFamily="34" charset="0"/>
                <a:cs typeface="Lato" panose="020F0502020204030203" pitchFamily="34" charset="0"/>
              </a:rPr>
              <a:t> </a:t>
            </a:r>
            <a:r>
              <a:rPr lang="en-US" sz="1550" b="1" dirty="0" err="1">
                <a:latin typeface="Lato" panose="020F0502020204030203" pitchFamily="34" charset="0"/>
                <a:ea typeface="Lato" panose="020F0502020204030203" pitchFamily="34" charset="0"/>
                <a:cs typeface="Lato" panose="020F0502020204030203" pitchFamily="34" charset="0"/>
              </a:rPr>
              <a:t>kelulusan</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dengan</a:t>
            </a:r>
            <a:r>
              <a:rPr lang="en-US" sz="1550" dirty="0">
                <a:latin typeface="Lato" panose="020F0502020204030203" pitchFamily="34" charset="0"/>
                <a:ea typeface="Lato" panose="020F0502020204030203" pitchFamily="34" charset="0"/>
                <a:cs typeface="Lato" panose="020F0502020204030203" pitchFamily="34" charset="0"/>
              </a:rPr>
              <a:t> </a:t>
            </a:r>
            <a:r>
              <a:rPr lang="en-US" sz="1550" i="1" dirty="0">
                <a:latin typeface="Lato" panose="020F0502020204030203" pitchFamily="34" charset="0"/>
                <a:ea typeface="Lato" panose="020F0502020204030203" pitchFamily="34" charset="0"/>
                <a:cs typeface="Lato" panose="020F0502020204030203" pitchFamily="34" charset="0"/>
              </a:rPr>
              <a:t>machine learning</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sederhana</a:t>
            </a:r>
            <a:r>
              <a:rPr lang="en-US" sz="1550" dirty="0">
                <a:latin typeface="Lato" panose="020F0502020204030203" pitchFamily="34" charset="0"/>
                <a:ea typeface="Lato" panose="020F0502020204030203" pitchFamily="34" charset="0"/>
                <a:cs typeface="Lato" panose="020F0502020204030203" pitchFamily="34" charset="0"/>
              </a:rPr>
              <a:t>. Selain </a:t>
            </a:r>
            <a:r>
              <a:rPr lang="en-US" sz="1550" dirty="0" err="1">
                <a:latin typeface="Lato" panose="020F0502020204030203" pitchFamily="34" charset="0"/>
                <a:ea typeface="Lato" panose="020F0502020204030203" pitchFamily="34" charset="0"/>
                <a:cs typeface="Lato" panose="020F0502020204030203" pitchFamily="34" charset="0"/>
              </a:rPr>
              <a:t>itu</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hasil</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analisis</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bisa</a:t>
            </a:r>
            <a:r>
              <a:rPr lang="en-US" sz="1550" dirty="0">
                <a:latin typeface="Lato" panose="020F0502020204030203" pitchFamily="34" charset="0"/>
                <a:ea typeface="Lato" panose="020F0502020204030203" pitchFamily="34" charset="0"/>
                <a:cs typeface="Lato" panose="020F0502020204030203" pitchFamily="34" charset="0"/>
              </a:rPr>
              <a:t> </a:t>
            </a:r>
            <a:r>
              <a:rPr lang="en-US" sz="1550" b="1" dirty="0" err="1">
                <a:latin typeface="Lato" panose="020F0502020204030203" pitchFamily="34" charset="0"/>
                <a:ea typeface="Lato" panose="020F0502020204030203" pitchFamily="34" charset="0"/>
                <a:cs typeface="Lato" panose="020F0502020204030203" pitchFamily="34" charset="0"/>
              </a:rPr>
              <a:t>dieksport</a:t>
            </a:r>
            <a:r>
              <a:rPr lang="en-US" sz="1550" b="1" dirty="0">
                <a:latin typeface="Lato" panose="020F0502020204030203" pitchFamily="34" charset="0"/>
                <a:ea typeface="Lato" panose="020F0502020204030203" pitchFamily="34" charset="0"/>
                <a:cs typeface="Lato" panose="020F0502020204030203" pitchFamily="34" charset="0"/>
              </a:rPr>
              <a:t> </a:t>
            </a:r>
            <a:r>
              <a:rPr lang="en-US" sz="1550" b="1" dirty="0" err="1">
                <a:latin typeface="Lato" panose="020F0502020204030203" pitchFamily="34" charset="0"/>
                <a:ea typeface="Lato" panose="020F0502020204030203" pitchFamily="34" charset="0"/>
                <a:cs typeface="Lato" panose="020F0502020204030203" pitchFamily="34" charset="0"/>
              </a:rPr>
              <a:t>otomatis</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ke</a:t>
            </a:r>
            <a:r>
              <a:rPr lang="en-US" sz="1550" dirty="0">
                <a:latin typeface="Lato" panose="020F0502020204030203" pitchFamily="34" charset="0"/>
                <a:ea typeface="Lato" panose="020F0502020204030203" pitchFamily="34" charset="0"/>
                <a:cs typeface="Lato" panose="020F0502020204030203" pitchFamily="34" charset="0"/>
              </a:rPr>
              <a:t> Excel </a:t>
            </a:r>
            <a:r>
              <a:rPr lang="en-US" sz="1550" dirty="0" err="1">
                <a:latin typeface="Lato" panose="020F0502020204030203" pitchFamily="34" charset="0"/>
                <a:ea typeface="Lato" panose="020F0502020204030203" pitchFamily="34" charset="0"/>
                <a:cs typeface="Lato" panose="020F0502020204030203" pitchFamily="34" charset="0"/>
              </a:rPr>
              <a:t>atau</a:t>
            </a:r>
            <a:r>
              <a:rPr lang="en-US" sz="1550" dirty="0">
                <a:latin typeface="Lato" panose="020F0502020204030203" pitchFamily="34" charset="0"/>
                <a:ea typeface="Lato" panose="020F0502020204030203" pitchFamily="34" charset="0"/>
                <a:cs typeface="Lato" panose="020F0502020204030203" pitchFamily="34" charset="0"/>
              </a:rPr>
              <a:t> PDF, dan </a:t>
            </a:r>
            <a:r>
              <a:rPr lang="en-US" sz="1550" dirty="0" err="1">
                <a:latin typeface="Lato" panose="020F0502020204030203" pitchFamily="34" charset="0"/>
                <a:ea typeface="Lato" panose="020F0502020204030203" pitchFamily="34" charset="0"/>
                <a:cs typeface="Lato" panose="020F0502020204030203" pitchFamily="34" charset="0"/>
              </a:rPr>
              <a:t>tambahkan</a:t>
            </a:r>
            <a:r>
              <a:rPr lang="en-US" sz="1550" dirty="0">
                <a:latin typeface="Lato" panose="020F0502020204030203" pitchFamily="34" charset="0"/>
                <a:ea typeface="Lato" panose="020F0502020204030203" pitchFamily="34" charset="0"/>
                <a:cs typeface="Lato" panose="020F0502020204030203" pitchFamily="34" charset="0"/>
              </a:rPr>
              <a:t> </a:t>
            </a:r>
            <a:r>
              <a:rPr lang="en-US" sz="1550" b="1" dirty="0">
                <a:latin typeface="Lato" panose="020F0502020204030203" pitchFamily="34" charset="0"/>
                <a:ea typeface="Lato" panose="020F0502020204030203" pitchFamily="34" charset="0"/>
                <a:cs typeface="Lato" panose="020F0502020204030203" pitchFamily="34" charset="0"/>
              </a:rPr>
              <a:t>menu </a:t>
            </a:r>
            <a:r>
              <a:rPr lang="en-US" sz="1550" b="1" dirty="0" err="1">
                <a:latin typeface="Lato" panose="020F0502020204030203" pitchFamily="34" charset="0"/>
                <a:ea typeface="Lato" panose="020F0502020204030203" pitchFamily="34" charset="0"/>
                <a:cs typeface="Lato" panose="020F0502020204030203" pitchFamily="34" charset="0"/>
              </a:rPr>
              <a:t>interaktif</a:t>
            </a:r>
            <a:r>
              <a:rPr lang="en-US" sz="1550" dirty="0">
                <a:latin typeface="Lato" panose="020F0502020204030203" pitchFamily="34" charset="0"/>
                <a:ea typeface="Lato" panose="020F0502020204030203" pitchFamily="34" charset="0"/>
                <a:cs typeface="Lato" panose="020F0502020204030203" pitchFamily="34" charset="0"/>
              </a:rPr>
              <a:t> agar program </a:t>
            </a:r>
            <a:r>
              <a:rPr lang="en-US" sz="1550" dirty="0" err="1">
                <a:latin typeface="Lato" panose="020F0502020204030203" pitchFamily="34" charset="0"/>
                <a:ea typeface="Lato" panose="020F0502020204030203" pitchFamily="34" charset="0"/>
                <a:cs typeface="Lato" panose="020F0502020204030203" pitchFamily="34" charset="0"/>
              </a:rPr>
              <a:t>lebih</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mudah</a:t>
            </a:r>
            <a:r>
              <a:rPr lang="en-US" sz="1550" dirty="0">
                <a:latin typeface="Lato" panose="020F0502020204030203" pitchFamily="34" charset="0"/>
                <a:ea typeface="Lato" panose="020F0502020204030203" pitchFamily="34" charset="0"/>
                <a:cs typeface="Lato" panose="020F0502020204030203" pitchFamily="34" charset="0"/>
              </a:rPr>
              <a:t> </a:t>
            </a:r>
            <a:r>
              <a:rPr lang="en-US" sz="1550" dirty="0" err="1">
                <a:latin typeface="Lato" panose="020F0502020204030203" pitchFamily="34" charset="0"/>
                <a:ea typeface="Lato" panose="020F0502020204030203" pitchFamily="34" charset="0"/>
                <a:cs typeface="Lato" panose="020F0502020204030203" pitchFamily="34" charset="0"/>
              </a:rPr>
              <a:t>digunakan</a:t>
            </a:r>
            <a:r>
              <a:rPr lang="id-ID" sz="1550">
                <a:latin typeface="Lato" panose="020F0502020204030203" pitchFamily="34" charset="0"/>
                <a:ea typeface="Lato" panose="020F0502020204030203" pitchFamily="34" charset="0"/>
                <a:cs typeface="Lato" panose="020F0502020204030203" pitchFamily="34" charset="0"/>
              </a:rPr>
              <a:t>.</a:t>
            </a:r>
            <a:endParaRPr lang="en-US" sz="1550" dirty="0"/>
          </a:p>
        </p:txBody>
      </p:sp>
    </p:spTree>
    <p:extLst>
      <p:ext uri="{BB962C8B-B14F-4D97-AF65-F5344CB8AC3E}">
        <p14:creationId xmlns:p14="http://schemas.microsoft.com/office/powerpoint/2010/main" val="318733019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2.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3.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4.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5.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6.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7.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8.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9.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0.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1.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2.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3.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4.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5.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6.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7.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8.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19.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ags/tag20.xml><?xml version="1.0" encoding="utf-8"?>
<p:tagLst xmlns:a="http://schemas.openxmlformats.org/drawingml/2006/main" xmlns:r="http://schemas.openxmlformats.org/officeDocument/2006/relationships" xmlns:p="http://schemas.openxmlformats.org/presentationml/2006/main">
  <p:tag name="KSO_WM_DIAGRAM_VIRTUALLY_FRAME" val="{&quot;height&quot;:439.05,&quot;left&quot;:52.359370078740156,&quot;top&quot;:174.05622047244094,&quot;width&quot;:633.4312598425197}"/>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TotalTime>
  <Words>700</Words>
  <Application>Microsoft Office PowerPoint</Application>
  <PresentationFormat>Custom</PresentationFormat>
  <Paragraphs>124</Paragraphs>
  <Slides>10</Slides>
  <Notes>10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vt:i4>
      </vt:variant>
    </vt:vector>
  </HeadingPairs>
  <TitlesOfParts>
    <vt:vector size="16" baseType="lpstr">
      <vt:lpstr>Lato</vt:lpstr>
      <vt:lpstr>Lato Bold</vt:lpstr>
      <vt:lpstr>Calibri</vt:lpstr>
      <vt:lpstr>Arial</vt:lpstr>
      <vt:lpstr>Lato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muhammad rizqi ardiansyah</cp:lastModifiedBy>
  <cp:revision>3</cp:revision>
  <dcterms:created xsi:type="dcterms:W3CDTF">2025-11-10T13:02:00Z</dcterms:created>
  <dcterms:modified xsi:type="dcterms:W3CDTF">2025-11-11T01:48:00Z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18A49AB094D24314B4E04A5CA8273EDF_13</vt:lpwstr>
  </property>
  <property fmtid="{D5CDD505-2E9C-101B-9397-08002B2CF9AE}" pid="3" name="KSOProductBuildVer">
    <vt:lpwstr>1033-12.2.0.23131</vt:lpwstr>
  </property>
</Properties>
</file>